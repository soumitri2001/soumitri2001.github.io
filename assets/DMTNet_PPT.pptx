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oboto"/>
      <p:regular r:id="rId24"/>
      <p:bold r:id="rId25"/>
      <p:italic r:id="rId26"/>
      <p:boldItalic r:id="rId27"/>
    </p:embeddedFont>
    <p:embeddedFont>
      <p:font typeface="Roboto Medium"/>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7C41D4-2DEF-4D2F-A2C8-0284207D78AE}">
  <a:tblStyle styleId="{FA7C41D4-2DEF-4D2F-A2C8-0284207D78A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RobotoMedium-regular.fntdata"/><Relationship Id="rId27"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edium-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edium-boldItalic.fntdata"/><Relationship Id="rId30" Type="http://schemas.openxmlformats.org/officeDocument/2006/relationships/font" Target="fonts/RobotoMedium-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1864e8fb0a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11864e8fb0a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1864e8fb0a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11864e8fb0a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1439296795_3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11439296795_3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1864e8fb0a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g11864e8fb0a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186c45b851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g1186c45b851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186c45b85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1186c45b85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1864e8fb0a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g11864e8fb0a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17fc111c4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g117fc111c4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7.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SP Paper Title Slide">
  <p:cSld name="MISP Paper Title Slide">
    <p:bg>
      <p:bgPr>
        <a:solidFill>
          <a:schemeClr val="lt1"/>
        </a:solid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1367644" y="1478443"/>
            <a:ext cx="6408712" cy="338875"/>
          </a:xfrm>
          <a:prstGeom prst="rect">
            <a:avLst/>
          </a:prstGeom>
          <a:solidFill>
            <a:srgbClr val="DAEEF3"/>
          </a:solidFill>
          <a:ln cap="flat" cmpd="sng" w="9525">
            <a:solidFill>
              <a:srgbClr val="002060"/>
            </a:solidFill>
            <a:prstDash val="solid"/>
            <a:round/>
            <a:headEnd len="sm" w="sm" type="none"/>
            <a:tailEnd len="sm" w="sm" type="none"/>
          </a:ln>
          <a:effectLst>
            <a:outerShdw blurRad="44450" algn="ctr" dir="5400000" dist="27940">
              <a:srgbClr val="000000">
                <a:alpha val="31764"/>
              </a:srgbClr>
            </a:outerShdw>
          </a:effectLst>
        </p:spPr>
        <p:txBody>
          <a:bodyPr anchorCtr="0" anchor="t" bIns="45700" lIns="91425" spcFirstLastPara="1" rIns="91425" wrap="square" tIns="45700">
            <a:spAutoFit/>
          </a:bodyPr>
          <a:lstStyle>
            <a:lvl1pPr lvl="0" marR="0" rtl="0" algn="ctr">
              <a:spcBef>
                <a:spcPts val="1200"/>
              </a:spcBef>
              <a:spcAft>
                <a:spcPts val="0"/>
              </a:spcAft>
              <a:buClr>
                <a:schemeClr val="dk1"/>
              </a:buClr>
              <a:buSzPts val="1800"/>
              <a:buFont typeface="Times New Roman"/>
              <a:buNone/>
              <a:defRPr b="0" i="0" sz="1800" u="none" cap="none" strike="noStrike">
                <a:solidFill>
                  <a:schemeClr val="dk1"/>
                </a:solidFill>
                <a:latin typeface="Times New Roman"/>
                <a:ea typeface="Times New Roman"/>
                <a:cs typeface="Times New Roman"/>
                <a:sym typeface="Times New Roman"/>
              </a:defRPr>
            </a:lvl1pPr>
            <a:lvl2pPr lvl="1">
              <a:spcBef>
                <a:spcPts val="1200"/>
              </a:spcBef>
              <a:spcAft>
                <a:spcPts val="0"/>
              </a:spcAft>
              <a:buSzPts val="1400"/>
              <a:buNone/>
              <a:defRPr sz="1800">
                <a:solidFill>
                  <a:schemeClr val="dk1"/>
                </a:solidFill>
                <a:latin typeface="Calibri"/>
                <a:ea typeface="Calibri"/>
                <a:cs typeface="Calibri"/>
                <a:sym typeface="Calibri"/>
              </a:defRPr>
            </a:lvl2pPr>
            <a:lvl3pPr lvl="2">
              <a:spcBef>
                <a:spcPts val="0"/>
              </a:spcBef>
              <a:spcAft>
                <a:spcPts val="0"/>
              </a:spcAft>
              <a:buSzPts val="1400"/>
              <a:buNone/>
              <a:defRPr sz="1800">
                <a:solidFill>
                  <a:schemeClr val="dk1"/>
                </a:solidFill>
                <a:latin typeface="Calibri"/>
                <a:ea typeface="Calibri"/>
                <a:cs typeface="Calibri"/>
                <a:sym typeface="Calibri"/>
              </a:defRPr>
            </a:lvl3pPr>
            <a:lvl4pPr lvl="3">
              <a:spcBef>
                <a:spcPts val="0"/>
              </a:spcBef>
              <a:spcAft>
                <a:spcPts val="0"/>
              </a:spcAft>
              <a:buSzPts val="1400"/>
              <a:buNone/>
              <a:defRPr sz="1800">
                <a:solidFill>
                  <a:schemeClr val="dk1"/>
                </a:solidFill>
                <a:latin typeface="Calibri"/>
                <a:ea typeface="Calibri"/>
                <a:cs typeface="Calibri"/>
                <a:sym typeface="Calibri"/>
              </a:defRPr>
            </a:lvl4pPr>
            <a:lvl5pPr lvl="4">
              <a:spcBef>
                <a:spcPts val="0"/>
              </a:spcBef>
              <a:spcAft>
                <a:spcPts val="0"/>
              </a:spcAft>
              <a:buSzPts val="1400"/>
              <a:buNone/>
              <a:defRPr sz="1800">
                <a:solidFill>
                  <a:schemeClr val="dk1"/>
                </a:solidFill>
                <a:latin typeface="Calibri"/>
                <a:ea typeface="Calibri"/>
                <a:cs typeface="Calibri"/>
                <a:sym typeface="Calibri"/>
              </a:defRPr>
            </a:lvl5pPr>
            <a:lvl6pPr lvl="5">
              <a:spcBef>
                <a:spcPts val="0"/>
              </a:spcBef>
              <a:spcAft>
                <a:spcPts val="0"/>
              </a:spcAft>
              <a:buSzPts val="1400"/>
              <a:buNone/>
              <a:defRPr sz="1800">
                <a:solidFill>
                  <a:schemeClr val="dk1"/>
                </a:solidFill>
                <a:latin typeface="Calibri"/>
                <a:ea typeface="Calibri"/>
                <a:cs typeface="Calibri"/>
                <a:sym typeface="Calibri"/>
              </a:defRPr>
            </a:lvl6pPr>
            <a:lvl7pPr lvl="6">
              <a:spcBef>
                <a:spcPts val="0"/>
              </a:spcBef>
              <a:spcAft>
                <a:spcPts val="0"/>
              </a:spcAft>
              <a:buSzPts val="1400"/>
              <a:buNone/>
              <a:defRPr sz="1800">
                <a:solidFill>
                  <a:schemeClr val="dk1"/>
                </a:solidFill>
                <a:latin typeface="Calibri"/>
                <a:ea typeface="Calibri"/>
                <a:cs typeface="Calibri"/>
                <a:sym typeface="Calibri"/>
              </a:defRPr>
            </a:lvl7pPr>
            <a:lvl8pPr lvl="7">
              <a:spcBef>
                <a:spcPts val="0"/>
              </a:spcBef>
              <a:spcAft>
                <a:spcPts val="0"/>
              </a:spcAft>
              <a:buSzPts val="1400"/>
              <a:buNone/>
              <a:defRPr sz="1800">
                <a:solidFill>
                  <a:schemeClr val="dk1"/>
                </a:solidFill>
                <a:latin typeface="Calibri"/>
                <a:ea typeface="Calibri"/>
                <a:cs typeface="Calibri"/>
                <a:sym typeface="Calibri"/>
              </a:defRPr>
            </a:lvl8pPr>
            <a:lvl9pPr lvl="8">
              <a:spcBef>
                <a:spcPts val="0"/>
              </a:spcBef>
              <a:spcAft>
                <a:spcPts val="0"/>
              </a:spcAft>
              <a:buSzPts val="1400"/>
              <a:buNone/>
              <a:defRPr sz="1800">
                <a:solidFill>
                  <a:schemeClr val="dk1"/>
                </a:solidFill>
                <a:latin typeface="Calibri"/>
                <a:ea typeface="Calibri"/>
                <a:cs typeface="Calibri"/>
                <a:sym typeface="Calibri"/>
              </a:defRPr>
            </a:lvl9pPr>
          </a:lstStyle>
          <a:p/>
        </p:txBody>
      </p:sp>
      <p:cxnSp>
        <p:nvCxnSpPr>
          <p:cNvPr id="14" name="Google Shape;14;p2"/>
          <p:cNvCxnSpPr/>
          <p:nvPr/>
        </p:nvCxnSpPr>
        <p:spPr>
          <a:xfrm flipH="1">
            <a:off x="8802854" y="-39460"/>
            <a:ext cx="17823" cy="5144492"/>
          </a:xfrm>
          <a:prstGeom prst="straightConnector1">
            <a:avLst/>
          </a:prstGeom>
          <a:noFill/>
          <a:ln cap="flat" cmpd="sng" w="38100">
            <a:solidFill>
              <a:srgbClr val="660066"/>
            </a:solidFill>
            <a:prstDash val="solid"/>
            <a:round/>
            <a:headEnd len="sm" w="sm" type="none"/>
            <a:tailEnd len="sm" w="sm" type="none"/>
          </a:ln>
        </p:spPr>
      </p:cxnSp>
      <p:pic>
        <p:nvPicPr>
          <p:cNvPr id="15" name="Google Shape;15;p2"/>
          <p:cNvPicPr preferRelativeResize="0"/>
          <p:nvPr/>
        </p:nvPicPr>
        <p:blipFill rotWithShape="1">
          <a:blip r:embed="rId2">
            <a:alphaModFix/>
          </a:blip>
          <a:srcRect b="0" l="0" r="0" t="0"/>
          <a:stretch/>
        </p:blipFill>
        <p:spPr>
          <a:xfrm>
            <a:off x="6300192" y="38273"/>
            <a:ext cx="2502662" cy="928800"/>
          </a:xfrm>
          <a:prstGeom prst="rect">
            <a:avLst/>
          </a:prstGeom>
          <a:noFill/>
          <a:ln>
            <a:noFill/>
          </a:ln>
        </p:spPr>
      </p:pic>
      <p:pic>
        <p:nvPicPr>
          <p:cNvPr id="16" name="Google Shape;16;p2"/>
          <p:cNvPicPr preferRelativeResize="0"/>
          <p:nvPr/>
        </p:nvPicPr>
        <p:blipFill rotWithShape="1">
          <a:blip r:embed="rId3">
            <a:alphaModFix/>
          </a:blip>
          <a:srcRect b="0" l="0" r="0" t="0"/>
          <a:stretch/>
        </p:blipFill>
        <p:spPr>
          <a:xfrm>
            <a:off x="2915816" y="48826"/>
            <a:ext cx="2274405" cy="928800"/>
          </a:xfrm>
          <a:prstGeom prst="rect">
            <a:avLst/>
          </a:prstGeom>
          <a:noFill/>
          <a:ln>
            <a:noFill/>
          </a:ln>
        </p:spPr>
      </p:pic>
      <p:pic>
        <p:nvPicPr>
          <p:cNvPr id="17" name="Google Shape;17;p2"/>
          <p:cNvPicPr preferRelativeResize="0"/>
          <p:nvPr/>
        </p:nvPicPr>
        <p:blipFill rotWithShape="1">
          <a:blip r:embed="rId4">
            <a:alphaModFix/>
          </a:blip>
          <a:srcRect b="0" l="0" r="0" t="0"/>
          <a:stretch/>
        </p:blipFill>
        <p:spPr>
          <a:xfrm>
            <a:off x="503039" y="38464"/>
            <a:ext cx="831339" cy="928609"/>
          </a:xfrm>
          <a:prstGeom prst="rect">
            <a:avLst/>
          </a:prstGeom>
          <a:noFill/>
          <a:ln>
            <a:noFill/>
          </a:ln>
        </p:spPr>
      </p:pic>
      <p:sp>
        <p:nvSpPr>
          <p:cNvPr id="18" name="Google Shape;18;p2"/>
          <p:cNvSpPr txBox="1"/>
          <p:nvPr/>
        </p:nvSpPr>
        <p:spPr>
          <a:xfrm>
            <a:off x="358969" y="4140156"/>
            <a:ext cx="8443885" cy="964880"/>
          </a:xfrm>
          <a:prstGeom prst="rect">
            <a:avLst/>
          </a:prstGeom>
          <a:solidFill>
            <a:schemeClr val="lt1"/>
          </a:solidFill>
          <a:ln cap="flat" cmpd="sng" w="25400">
            <a:solidFill>
              <a:schemeClr val="dk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89000"/>
              </a:lnSpc>
              <a:spcBef>
                <a:spcPts val="0"/>
              </a:spcBef>
              <a:spcAft>
                <a:spcPts val="0"/>
              </a:spcAft>
              <a:buNone/>
            </a:pPr>
            <a:r>
              <a:rPr b="1" i="0" lang="en-US" sz="1500" u="none" cap="none" strike="noStrike">
                <a:solidFill>
                  <a:schemeClr val="dk2"/>
                </a:solidFill>
                <a:latin typeface="Times New Roman"/>
                <a:ea typeface="Times New Roman"/>
                <a:cs typeface="Times New Roman"/>
                <a:sym typeface="Times New Roman"/>
              </a:rPr>
              <a:t>4</a:t>
            </a:r>
            <a:r>
              <a:rPr b="1" baseline="30000" i="0" lang="en-US" sz="1500" u="none" cap="none" strike="noStrike">
                <a:solidFill>
                  <a:schemeClr val="dk2"/>
                </a:solidFill>
                <a:latin typeface="Times New Roman"/>
                <a:ea typeface="Times New Roman"/>
                <a:cs typeface="Times New Roman"/>
                <a:sym typeface="Times New Roman"/>
              </a:rPr>
              <a:t>th</a:t>
            </a:r>
            <a:r>
              <a:rPr b="1" i="0" lang="en-US" sz="1500" u="none" cap="none" strike="noStrike">
                <a:solidFill>
                  <a:schemeClr val="dk2"/>
                </a:solidFill>
                <a:latin typeface="Times New Roman"/>
                <a:ea typeface="Times New Roman"/>
                <a:cs typeface="Times New Roman"/>
                <a:sym typeface="Times New Roman"/>
              </a:rPr>
              <a:t> International Conference on Machine Intelligence and Signal Processing (MISP-2022) </a:t>
            </a:r>
            <a:endParaRPr/>
          </a:p>
          <a:p>
            <a:pPr indent="0" lvl="0" marL="0" marR="0" rtl="0" algn="ctr">
              <a:lnSpc>
                <a:spcPct val="89000"/>
              </a:lnSpc>
              <a:spcBef>
                <a:spcPts val="0"/>
              </a:spcBef>
              <a:spcAft>
                <a:spcPts val="0"/>
              </a:spcAft>
              <a:buNone/>
            </a:pPr>
            <a:r>
              <a:rPr b="1" i="0" lang="en-US" sz="1500" u="none" cap="none" strike="noStrike">
                <a:solidFill>
                  <a:schemeClr val="dk2"/>
                </a:solidFill>
                <a:latin typeface="Times New Roman"/>
                <a:ea typeface="Times New Roman"/>
                <a:cs typeface="Times New Roman"/>
                <a:sym typeface="Times New Roman"/>
              </a:rPr>
              <a:t>March 12th - 14th, 2022</a:t>
            </a:r>
            <a:endParaRPr/>
          </a:p>
          <a:p>
            <a:pPr indent="0" lvl="0" marL="0" marR="0" rtl="0" algn="ctr">
              <a:spcBef>
                <a:spcPts val="0"/>
              </a:spcBef>
              <a:spcAft>
                <a:spcPts val="0"/>
              </a:spcAft>
              <a:buNone/>
            </a:pPr>
            <a:r>
              <a:rPr b="1" i="0" lang="en-US" sz="1500" u="none" cap="none" strike="noStrike">
                <a:solidFill>
                  <a:schemeClr val="dk2"/>
                </a:solidFill>
                <a:latin typeface="Times New Roman"/>
                <a:ea typeface="Times New Roman"/>
                <a:cs typeface="Times New Roman"/>
                <a:sym typeface="Times New Roman"/>
              </a:rPr>
              <a:t>Organized By </a:t>
            </a:r>
            <a:endParaRPr/>
          </a:p>
          <a:p>
            <a:pPr indent="0" lvl="0" marL="0" marR="0" rtl="0" algn="ctr">
              <a:spcBef>
                <a:spcPts val="0"/>
              </a:spcBef>
              <a:spcAft>
                <a:spcPts val="0"/>
              </a:spcAft>
              <a:buNone/>
            </a:pPr>
            <a:r>
              <a:rPr b="1" i="0" lang="en-US" sz="1500" u="none" cap="none" strike="noStrike">
                <a:solidFill>
                  <a:schemeClr val="dk2"/>
                </a:solidFill>
                <a:latin typeface="Times New Roman"/>
                <a:ea typeface="Times New Roman"/>
                <a:cs typeface="Times New Roman"/>
                <a:sym typeface="Times New Roman"/>
              </a:rPr>
              <a:t>Department of Computer Science and Engineering, National Institute of Technology Raipur, India</a:t>
            </a:r>
            <a:endParaRPr b="1" i="0" sz="1500" u="none" cap="none" strike="noStrike">
              <a:solidFill>
                <a:schemeClr val="dk2"/>
              </a:solidFill>
              <a:latin typeface="Calibri"/>
              <a:ea typeface="Calibri"/>
              <a:cs typeface="Calibri"/>
              <a:sym typeface="Calibri"/>
            </a:endParaRPr>
          </a:p>
        </p:txBody>
      </p:sp>
      <p:sp>
        <p:nvSpPr>
          <p:cNvPr id="19" name="Google Shape;19;p2"/>
          <p:cNvSpPr txBox="1"/>
          <p:nvPr>
            <p:ph idx="1" type="body"/>
          </p:nvPr>
        </p:nvSpPr>
        <p:spPr>
          <a:xfrm>
            <a:off x="1367645" y="2818953"/>
            <a:ext cx="6408711" cy="452882"/>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1pPr>
            <a:lvl2pPr indent="-228600" lvl="1" marL="914400"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indent="-228600" lvl="2" marL="1371600"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indent="-228600" lvl="3" marL="1828800"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indent="-228600" lvl="4" marL="2286000"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 name="Google Shape;20;p2"/>
          <p:cNvSpPr txBox="1"/>
          <p:nvPr>
            <p:ph idx="2" type="body"/>
          </p:nvPr>
        </p:nvSpPr>
        <p:spPr>
          <a:xfrm>
            <a:off x="1367645" y="3271835"/>
            <a:ext cx="6408711" cy="452882"/>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400"/>
              </a:spcBef>
              <a:spcAft>
                <a:spcPts val="0"/>
              </a:spcAft>
              <a:buClr>
                <a:schemeClr val="dk1"/>
              </a:buClr>
              <a:buSzPts val="2000"/>
              <a:buFont typeface="Arial"/>
              <a:buNone/>
              <a:defRPr b="0" i="0" sz="2000" u="none" cap="none" strike="noStrike">
                <a:solidFill>
                  <a:schemeClr val="dk1"/>
                </a:solidFill>
                <a:latin typeface="Times New Roman"/>
                <a:ea typeface="Times New Roman"/>
                <a:cs typeface="Times New Roman"/>
                <a:sym typeface="Times New Roman"/>
              </a:defRPr>
            </a:lvl1pPr>
            <a:lvl2pPr indent="-228600" lvl="1" marL="914400"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indent="-228600" lvl="2" marL="1371600"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indent="-228600" lvl="3" marL="1828800"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indent="-228600" lvl="4" marL="2286000"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
  <p:cSld name="Table of Content">
    <p:bg>
      <p:bgPr>
        <a:solidFill>
          <a:schemeClr val="lt1"/>
        </a:solidFill>
      </p:bgPr>
    </p:bg>
    <p:spTree>
      <p:nvGrpSpPr>
        <p:cNvPr id="21" name="Shape 21"/>
        <p:cNvGrpSpPr/>
        <p:nvPr/>
      </p:nvGrpSpPr>
      <p:grpSpPr>
        <a:xfrm>
          <a:off x="0" y="0"/>
          <a:ext cx="0" cy="0"/>
          <a:chOff x="0" y="0"/>
          <a:chExt cx="0" cy="0"/>
        </a:xfrm>
      </p:grpSpPr>
      <p:sp>
        <p:nvSpPr>
          <p:cNvPr id="22" name="Google Shape;22;p3"/>
          <p:cNvSpPr txBox="1"/>
          <p:nvPr>
            <p:ph idx="10" type="dt"/>
          </p:nvPr>
        </p:nvSpPr>
        <p:spPr>
          <a:xfrm>
            <a:off x="337710" y="480322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3"/>
          <p:cNvSpPr txBox="1"/>
          <p:nvPr>
            <p:ph idx="11" type="ftr"/>
          </p:nvPr>
        </p:nvSpPr>
        <p:spPr>
          <a:xfrm>
            <a:off x="1417831" y="480322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3"/>
          <p:cNvSpPr txBox="1"/>
          <p:nvPr>
            <p:ph idx="12" type="sldNum"/>
          </p:nvPr>
        </p:nvSpPr>
        <p:spPr>
          <a:xfrm>
            <a:off x="8532441" y="479979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indent="0" lvl="0"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1pPr>
            <a:lvl2pPr indent="0" lvl="1"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2pPr>
            <a:lvl3pPr indent="0" lvl="2"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3pPr>
            <a:lvl4pPr indent="0" lvl="3"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4pPr>
            <a:lvl5pPr indent="0" lvl="4"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5pPr>
            <a:lvl6pPr indent="0" lvl="5"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6pPr>
            <a:lvl7pPr indent="0" lvl="6"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7pPr>
            <a:lvl8pPr indent="0" lvl="7"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8pPr>
            <a:lvl9pPr indent="0" lvl="8"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pic>
        <p:nvPicPr>
          <p:cNvPr id="25" name="Google Shape;25;p3"/>
          <p:cNvPicPr preferRelativeResize="0"/>
          <p:nvPr/>
        </p:nvPicPr>
        <p:blipFill rotWithShape="1">
          <a:blip r:embed="rId2">
            <a:alphaModFix/>
          </a:blip>
          <a:srcRect b="0" l="0" r="0" t="0"/>
          <a:stretch/>
        </p:blipFill>
        <p:spPr>
          <a:xfrm>
            <a:off x="7732740" y="546109"/>
            <a:ext cx="1281620" cy="307280"/>
          </a:xfrm>
          <a:prstGeom prst="rect">
            <a:avLst/>
          </a:prstGeom>
          <a:noFill/>
          <a:ln>
            <a:noFill/>
          </a:ln>
        </p:spPr>
      </p:pic>
      <p:pic>
        <p:nvPicPr>
          <p:cNvPr id="26" name="Google Shape;26;p3"/>
          <p:cNvPicPr preferRelativeResize="0"/>
          <p:nvPr/>
        </p:nvPicPr>
        <p:blipFill rotWithShape="1">
          <a:blip r:embed="rId3">
            <a:alphaModFix/>
          </a:blip>
          <a:srcRect b="0" l="0" r="0" t="0"/>
          <a:stretch/>
        </p:blipFill>
        <p:spPr>
          <a:xfrm>
            <a:off x="7804923" y="190274"/>
            <a:ext cx="1137254" cy="325964"/>
          </a:xfrm>
          <a:prstGeom prst="rect">
            <a:avLst/>
          </a:prstGeom>
          <a:noFill/>
          <a:ln>
            <a:noFill/>
          </a:ln>
        </p:spPr>
      </p:pic>
      <p:pic>
        <p:nvPicPr>
          <p:cNvPr id="27" name="Google Shape;27;p3"/>
          <p:cNvPicPr preferRelativeResize="0"/>
          <p:nvPr/>
        </p:nvPicPr>
        <p:blipFill rotWithShape="1">
          <a:blip r:embed="rId4">
            <a:alphaModFix/>
          </a:blip>
          <a:srcRect b="0" l="0" r="0" t="0"/>
          <a:stretch/>
        </p:blipFill>
        <p:spPr>
          <a:xfrm>
            <a:off x="395536" y="101602"/>
            <a:ext cx="742405" cy="829271"/>
          </a:xfrm>
          <a:prstGeom prst="rect">
            <a:avLst/>
          </a:prstGeom>
          <a:noFill/>
          <a:ln>
            <a:noFill/>
          </a:ln>
        </p:spPr>
      </p:pic>
      <p:sp>
        <p:nvSpPr>
          <p:cNvPr id="28" name="Google Shape;28;p3"/>
          <p:cNvSpPr txBox="1"/>
          <p:nvPr>
            <p:ph idx="1" type="body"/>
          </p:nvPr>
        </p:nvSpPr>
        <p:spPr>
          <a:xfrm>
            <a:off x="683568" y="1255174"/>
            <a:ext cx="7992888" cy="3188784"/>
          </a:xfrm>
          <a:prstGeom prst="rect">
            <a:avLst/>
          </a:prstGeom>
          <a:noFill/>
          <a:ln>
            <a:noFill/>
          </a:ln>
        </p:spPr>
        <p:txBody>
          <a:bodyPr anchorCtr="0" anchor="t" bIns="45700" lIns="91425" spcFirstLastPara="1" rIns="91425" wrap="square" tIns="45700">
            <a:noAutofit/>
          </a:bodyPr>
          <a:lstStyle>
            <a:lvl1pPr indent="-355600" lvl="0" marL="457200" marR="0" rtl="0" algn="just">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 name="Google Shape;29;p3"/>
          <p:cNvSpPr txBox="1"/>
          <p:nvPr/>
        </p:nvSpPr>
        <p:spPr>
          <a:xfrm>
            <a:off x="2799755" y="200493"/>
            <a:ext cx="3544491"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u="none" cap="none" strike="noStrike">
                <a:solidFill>
                  <a:schemeClr val="dk2"/>
                </a:solidFill>
                <a:latin typeface="Times New Roman"/>
                <a:ea typeface="Times New Roman"/>
                <a:cs typeface="Times New Roman"/>
                <a:sym typeface="Times New Roman"/>
              </a:rPr>
              <a:t>Table of Contents</a:t>
            </a:r>
            <a:endParaRPr b="1" i="0" sz="3000" u="none" cap="none" strike="noStrike">
              <a:solidFill>
                <a:schemeClr val="dk2"/>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ackground">
    <p:bg>
      <p:bgPr>
        <a:solidFill>
          <a:schemeClr val="lt1"/>
        </a:solidFill>
      </p:bgPr>
    </p:bg>
    <p:spTree>
      <p:nvGrpSpPr>
        <p:cNvPr id="30" name="Shape 30"/>
        <p:cNvGrpSpPr/>
        <p:nvPr/>
      </p:nvGrpSpPr>
      <p:grpSpPr>
        <a:xfrm>
          <a:off x="0" y="0"/>
          <a:ext cx="0" cy="0"/>
          <a:chOff x="0" y="0"/>
          <a:chExt cx="0" cy="0"/>
        </a:xfrm>
      </p:grpSpPr>
      <p:sp>
        <p:nvSpPr>
          <p:cNvPr id="31" name="Google Shape;31;p4"/>
          <p:cNvSpPr txBox="1"/>
          <p:nvPr>
            <p:ph idx="10" type="dt"/>
          </p:nvPr>
        </p:nvSpPr>
        <p:spPr>
          <a:xfrm>
            <a:off x="337710" y="4795896"/>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2" name="Google Shape;32;p4"/>
          <p:cNvSpPr txBox="1"/>
          <p:nvPr>
            <p:ph idx="11" type="ftr"/>
          </p:nvPr>
        </p:nvSpPr>
        <p:spPr>
          <a:xfrm>
            <a:off x="1417832" y="4803025"/>
            <a:ext cx="7114609" cy="310781"/>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4"/>
          <p:cNvSpPr txBox="1"/>
          <p:nvPr>
            <p:ph idx="12" type="sldNum"/>
          </p:nvPr>
        </p:nvSpPr>
        <p:spPr>
          <a:xfrm>
            <a:off x="8532441" y="4803763"/>
            <a:ext cx="586052" cy="309305"/>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indent="0" lvl="0"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1pPr>
            <a:lvl2pPr indent="0" lvl="1"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2pPr>
            <a:lvl3pPr indent="0" lvl="2"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3pPr>
            <a:lvl4pPr indent="0" lvl="3"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4pPr>
            <a:lvl5pPr indent="0" lvl="4"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5pPr>
            <a:lvl6pPr indent="0" lvl="5"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6pPr>
            <a:lvl7pPr indent="0" lvl="6"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7pPr>
            <a:lvl8pPr indent="0" lvl="7"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8pPr>
            <a:lvl9pPr indent="0" lvl="8"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pic>
        <p:nvPicPr>
          <p:cNvPr id="34" name="Google Shape;34;p4"/>
          <p:cNvPicPr preferRelativeResize="0"/>
          <p:nvPr/>
        </p:nvPicPr>
        <p:blipFill rotWithShape="1">
          <a:blip r:embed="rId2">
            <a:alphaModFix/>
          </a:blip>
          <a:srcRect b="0" l="0" r="0" t="0"/>
          <a:stretch/>
        </p:blipFill>
        <p:spPr>
          <a:xfrm>
            <a:off x="7732740" y="546109"/>
            <a:ext cx="1281620" cy="307280"/>
          </a:xfrm>
          <a:prstGeom prst="rect">
            <a:avLst/>
          </a:prstGeom>
          <a:noFill/>
          <a:ln>
            <a:noFill/>
          </a:ln>
        </p:spPr>
      </p:pic>
      <p:pic>
        <p:nvPicPr>
          <p:cNvPr id="35" name="Google Shape;35;p4"/>
          <p:cNvPicPr preferRelativeResize="0"/>
          <p:nvPr/>
        </p:nvPicPr>
        <p:blipFill rotWithShape="1">
          <a:blip r:embed="rId3">
            <a:alphaModFix/>
          </a:blip>
          <a:srcRect b="0" l="0" r="0" t="0"/>
          <a:stretch/>
        </p:blipFill>
        <p:spPr>
          <a:xfrm>
            <a:off x="7804923" y="178496"/>
            <a:ext cx="1137254" cy="325964"/>
          </a:xfrm>
          <a:prstGeom prst="rect">
            <a:avLst/>
          </a:prstGeom>
          <a:noFill/>
          <a:ln>
            <a:noFill/>
          </a:ln>
        </p:spPr>
      </p:pic>
      <p:pic>
        <p:nvPicPr>
          <p:cNvPr id="36" name="Google Shape;36;p4"/>
          <p:cNvPicPr preferRelativeResize="0"/>
          <p:nvPr/>
        </p:nvPicPr>
        <p:blipFill rotWithShape="1">
          <a:blip r:embed="rId4">
            <a:alphaModFix/>
          </a:blip>
          <a:srcRect b="0" l="0" r="0" t="0"/>
          <a:stretch/>
        </p:blipFill>
        <p:spPr>
          <a:xfrm>
            <a:off x="395536" y="89824"/>
            <a:ext cx="742405" cy="829271"/>
          </a:xfrm>
          <a:prstGeom prst="rect">
            <a:avLst/>
          </a:prstGeom>
          <a:noFill/>
          <a:ln>
            <a:noFill/>
          </a:ln>
        </p:spPr>
      </p:pic>
      <p:sp>
        <p:nvSpPr>
          <p:cNvPr id="37" name="Google Shape;37;p4"/>
          <p:cNvSpPr txBox="1"/>
          <p:nvPr>
            <p:ph idx="1" type="body"/>
          </p:nvPr>
        </p:nvSpPr>
        <p:spPr>
          <a:xfrm>
            <a:off x="683568" y="1255174"/>
            <a:ext cx="8330792" cy="3188784"/>
          </a:xfrm>
          <a:prstGeom prst="rect">
            <a:avLst/>
          </a:prstGeom>
          <a:noFill/>
          <a:ln>
            <a:noFill/>
          </a:ln>
        </p:spPr>
        <p:txBody>
          <a:bodyPr anchorCtr="0" anchor="t" bIns="45700" lIns="91425" spcFirstLastPara="1" rIns="91425" wrap="square" tIns="45700">
            <a:noAutofit/>
          </a:bodyPr>
          <a:lstStyle>
            <a:lvl1pPr indent="-355600" lvl="0" marL="457200" marR="0" rtl="0" algn="just">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8" name="Google Shape;38;p4"/>
          <p:cNvSpPr txBox="1"/>
          <p:nvPr/>
        </p:nvSpPr>
        <p:spPr>
          <a:xfrm>
            <a:off x="3059832" y="145544"/>
            <a:ext cx="3024336"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u="none" cap="none" strike="noStrike">
                <a:solidFill>
                  <a:schemeClr val="dk2"/>
                </a:solidFill>
                <a:latin typeface="Times New Roman"/>
                <a:ea typeface="Times New Roman"/>
                <a:cs typeface="Times New Roman"/>
                <a:sym typeface="Times New Roman"/>
              </a:rPr>
              <a:t>Background</a:t>
            </a:r>
            <a:endParaRPr b="1" i="0" sz="3000" u="none" cap="none" strike="noStrike">
              <a:solidFill>
                <a:schemeClr val="dk2"/>
              </a:solidFill>
              <a:latin typeface="Times New Roman"/>
              <a:ea typeface="Times New Roman"/>
              <a:cs typeface="Times New Roman"/>
              <a:sym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terature Survey">
  <p:cSld name="Literature Survey">
    <p:bg>
      <p:bgPr>
        <a:solidFill>
          <a:schemeClr val="lt1"/>
        </a:solidFill>
      </p:bgPr>
    </p:bg>
    <p:spTree>
      <p:nvGrpSpPr>
        <p:cNvPr id="39" name="Shape 39"/>
        <p:cNvGrpSpPr/>
        <p:nvPr/>
      </p:nvGrpSpPr>
      <p:grpSpPr>
        <a:xfrm>
          <a:off x="0" y="0"/>
          <a:ext cx="0" cy="0"/>
          <a:chOff x="0" y="0"/>
          <a:chExt cx="0" cy="0"/>
        </a:xfrm>
      </p:grpSpPr>
      <p:sp>
        <p:nvSpPr>
          <p:cNvPr id="40" name="Google Shape;40;p5"/>
          <p:cNvSpPr txBox="1"/>
          <p:nvPr>
            <p:ph idx="10" type="dt"/>
          </p:nvPr>
        </p:nvSpPr>
        <p:spPr>
          <a:xfrm>
            <a:off x="337710" y="480322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5"/>
          <p:cNvSpPr txBox="1"/>
          <p:nvPr>
            <p:ph idx="11" type="ftr"/>
          </p:nvPr>
        </p:nvSpPr>
        <p:spPr>
          <a:xfrm>
            <a:off x="1417830" y="480322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5"/>
          <p:cNvSpPr txBox="1"/>
          <p:nvPr>
            <p:ph idx="12" type="sldNum"/>
          </p:nvPr>
        </p:nvSpPr>
        <p:spPr>
          <a:xfrm>
            <a:off x="8532441" y="479979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indent="0" lvl="0"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1pPr>
            <a:lvl2pPr indent="0" lvl="1"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2pPr>
            <a:lvl3pPr indent="0" lvl="2"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3pPr>
            <a:lvl4pPr indent="0" lvl="3"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4pPr>
            <a:lvl5pPr indent="0" lvl="4"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5pPr>
            <a:lvl6pPr indent="0" lvl="5"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6pPr>
            <a:lvl7pPr indent="0" lvl="6"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7pPr>
            <a:lvl8pPr indent="0" lvl="7"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8pPr>
            <a:lvl9pPr indent="0" lvl="8"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pic>
        <p:nvPicPr>
          <p:cNvPr id="43" name="Google Shape;43;p5"/>
          <p:cNvPicPr preferRelativeResize="0"/>
          <p:nvPr/>
        </p:nvPicPr>
        <p:blipFill rotWithShape="1">
          <a:blip r:embed="rId2">
            <a:alphaModFix/>
          </a:blip>
          <a:srcRect b="0" l="0" r="0" t="0"/>
          <a:stretch/>
        </p:blipFill>
        <p:spPr>
          <a:xfrm>
            <a:off x="7732740" y="546109"/>
            <a:ext cx="1281620" cy="307280"/>
          </a:xfrm>
          <a:prstGeom prst="rect">
            <a:avLst/>
          </a:prstGeom>
          <a:noFill/>
          <a:ln>
            <a:noFill/>
          </a:ln>
        </p:spPr>
      </p:pic>
      <p:pic>
        <p:nvPicPr>
          <p:cNvPr id="44" name="Google Shape;44;p5"/>
          <p:cNvPicPr preferRelativeResize="0"/>
          <p:nvPr/>
        </p:nvPicPr>
        <p:blipFill rotWithShape="1">
          <a:blip r:embed="rId3">
            <a:alphaModFix/>
          </a:blip>
          <a:srcRect b="0" l="0" r="0" t="0"/>
          <a:stretch/>
        </p:blipFill>
        <p:spPr>
          <a:xfrm>
            <a:off x="7804923" y="174966"/>
            <a:ext cx="1137254" cy="325964"/>
          </a:xfrm>
          <a:prstGeom prst="rect">
            <a:avLst/>
          </a:prstGeom>
          <a:noFill/>
          <a:ln>
            <a:noFill/>
          </a:ln>
        </p:spPr>
      </p:pic>
      <p:pic>
        <p:nvPicPr>
          <p:cNvPr id="45" name="Google Shape;45;p5"/>
          <p:cNvPicPr preferRelativeResize="0"/>
          <p:nvPr/>
        </p:nvPicPr>
        <p:blipFill rotWithShape="1">
          <a:blip r:embed="rId4">
            <a:alphaModFix/>
          </a:blip>
          <a:srcRect b="0" l="0" r="0" t="0"/>
          <a:stretch/>
        </p:blipFill>
        <p:spPr>
          <a:xfrm>
            <a:off x="395536" y="102592"/>
            <a:ext cx="742405" cy="829271"/>
          </a:xfrm>
          <a:prstGeom prst="rect">
            <a:avLst/>
          </a:prstGeom>
          <a:noFill/>
          <a:ln>
            <a:noFill/>
          </a:ln>
        </p:spPr>
      </p:pic>
      <p:sp>
        <p:nvSpPr>
          <p:cNvPr id="46" name="Google Shape;46;p5"/>
          <p:cNvSpPr txBox="1"/>
          <p:nvPr>
            <p:ph idx="1" type="body"/>
          </p:nvPr>
        </p:nvSpPr>
        <p:spPr>
          <a:xfrm>
            <a:off x="683568" y="1255174"/>
            <a:ext cx="7992888" cy="3188784"/>
          </a:xfrm>
          <a:prstGeom prst="rect">
            <a:avLst/>
          </a:prstGeom>
          <a:noFill/>
          <a:ln>
            <a:noFill/>
          </a:ln>
        </p:spPr>
        <p:txBody>
          <a:bodyPr anchorCtr="0" anchor="t" bIns="45700" lIns="91425" spcFirstLastPara="1" rIns="91425" wrap="square" tIns="45700">
            <a:noAutofit/>
          </a:bodyPr>
          <a:lstStyle>
            <a:lvl1pPr indent="-355600" lvl="0" marL="457200" marR="0" rtl="0" algn="just">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7" name="Google Shape;47;p5"/>
          <p:cNvSpPr txBox="1"/>
          <p:nvPr/>
        </p:nvSpPr>
        <p:spPr>
          <a:xfrm>
            <a:off x="2987824" y="240229"/>
            <a:ext cx="3168352"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u="none" cap="none" strike="noStrike">
                <a:solidFill>
                  <a:schemeClr val="dk2"/>
                </a:solidFill>
                <a:latin typeface="Times New Roman"/>
                <a:ea typeface="Times New Roman"/>
                <a:cs typeface="Times New Roman"/>
                <a:sym typeface="Times New Roman"/>
              </a:rPr>
              <a:t>Literature Survey</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blem Identification">
  <p:cSld name="Problem Identification">
    <p:bg>
      <p:bgPr>
        <a:solidFill>
          <a:schemeClr val="lt1"/>
        </a:solidFill>
      </p:bgPr>
    </p:bg>
    <p:spTree>
      <p:nvGrpSpPr>
        <p:cNvPr id="48" name="Shape 48"/>
        <p:cNvGrpSpPr/>
        <p:nvPr/>
      </p:nvGrpSpPr>
      <p:grpSpPr>
        <a:xfrm>
          <a:off x="0" y="0"/>
          <a:ext cx="0" cy="0"/>
          <a:chOff x="0" y="0"/>
          <a:chExt cx="0" cy="0"/>
        </a:xfrm>
      </p:grpSpPr>
      <p:sp>
        <p:nvSpPr>
          <p:cNvPr id="49" name="Google Shape;49;p6"/>
          <p:cNvSpPr txBox="1"/>
          <p:nvPr>
            <p:ph idx="10" type="dt"/>
          </p:nvPr>
        </p:nvSpPr>
        <p:spPr>
          <a:xfrm>
            <a:off x="337710" y="480322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6"/>
          <p:cNvSpPr txBox="1"/>
          <p:nvPr>
            <p:ph idx="11" type="ftr"/>
          </p:nvPr>
        </p:nvSpPr>
        <p:spPr>
          <a:xfrm>
            <a:off x="1417831" y="480322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 name="Google Shape;51;p6"/>
          <p:cNvSpPr txBox="1"/>
          <p:nvPr>
            <p:ph idx="12" type="sldNum"/>
          </p:nvPr>
        </p:nvSpPr>
        <p:spPr>
          <a:xfrm>
            <a:off x="8532441" y="479979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indent="0" lvl="0"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1pPr>
            <a:lvl2pPr indent="0" lvl="1"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2pPr>
            <a:lvl3pPr indent="0" lvl="2"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3pPr>
            <a:lvl4pPr indent="0" lvl="3"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4pPr>
            <a:lvl5pPr indent="0" lvl="4"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5pPr>
            <a:lvl6pPr indent="0" lvl="5"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6pPr>
            <a:lvl7pPr indent="0" lvl="6"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7pPr>
            <a:lvl8pPr indent="0" lvl="7"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8pPr>
            <a:lvl9pPr indent="0" lvl="8"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pic>
        <p:nvPicPr>
          <p:cNvPr id="52" name="Google Shape;52;p6"/>
          <p:cNvPicPr preferRelativeResize="0"/>
          <p:nvPr/>
        </p:nvPicPr>
        <p:blipFill rotWithShape="1">
          <a:blip r:embed="rId2">
            <a:alphaModFix/>
          </a:blip>
          <a:srcRect b="0" l="0" r="0" t="0"/>
          <a:stretch/>
        </p:blipFill>
        <p:spPr>
          <a:xfrm>
            <a:off x="7732740" y="546109"/>
            <a:ext cx="1281620" cy="307280"/>
          </a:xfrm>
          <a:prstGeom prst="rect">
            <a:avLst/>
          </a:prstGeom>
          <a:noFill/>
          <a:ln>
            <a:noFill/>
          </a:ln>
        </p:spPr>
      </p:pic>
      <p:pic>
        <p:nvPicPr>
          <p:cNvPr id="53" name="Google Shape;53;p6"/>
          <p:cNvPicPr preferRelativeResize="0"/>
          <p:nvPr/>
        </p:nvPicPr>
        <p:blipFill rotWithShape="1">
          <a:blip r:embed="rId3">
            <a:alphaModFix/>
          </a:blip>
          <a:srcRect b="0" l="0" r="0" t="0"/>
          <a:stretch/>
        </p:blipFill>
        <p:spPr>
          <a:xfrm>
            <a:off x="7804923" y="180801"/>
            <a:ext cx="1137254" cy="325964"/>
          </a:xfrm>
          <a:prstGeom prst="rect">
            <a:avLst/>
          </a:prstGeom>
          <a:noFill/>
          <a:ln>
            <a:noFill/>
          </a:ln>
        </p:spPr>
      </p:pic>
      <p:pic>
        <p:nvPicPr>
          <p:cNvPr id="54" name="Google Shape;54;p6"/>
          <p:cNvPicPr preferRelativeResize="0"/>
          <p:nvPr/>
        </p:nvPicPr>
        <p:blipFill rotWithShape="1">
          <a:blip r:embed="rId4">
            <a:alphaModFix/>
          </a:blip>
          <a:srcRect b="0" l="0" r="0" t="0"/>
          <a:stretch/>
        </p:blipFill>
        <p:spPr>
          <a:xfrm>
            <a:off x="395536" y="131473"/>
            <a:ext cx="742405" cy="829271"/>
          </a:xfrm>
          <a:prstGeom prst="rect">
            <a:avLst/>
          </a:prstGeom>
          <a:noFill/>
          <a:ln>
            <a:noFill/>
          </a:ln>
        </p:spPr>
      </p:pic>
      <p:sp>
        <p:nvSpPr>
          <p:cNvPr id="55" name="Google Shape;55;p6"/>
          <p:cNvSpPr txBox="1"/>
          <p:nvPr>
            <p:ph idx="1" type="body"/>
          </p:nvPr>
        </p:nvSpPr>
        <p:spPr>
          <a:xfrm>
            <a:off x="683568" y="1275606"/>
            <a:ext cx="7992888" cy="3188784"/>
          </a:xfrm>
          <a:prstGeom prst="rect">
            <a:avLst/>
          </a:prstGeom>
          <a:noFill/>
          <a:ln>
            <a:noFill/>
          </a:ln>
        </p:spPr>
        <p:txBody>
          <a:bodyPr anchorCtr="0" anchor="t" bIns="45700" lIns="91425" spcFirstLastPara="1" rIns="91425" wrap="square" tIns="45700">
            <a:noAutofit/>
          </a:bodyPr>
          <a:lstStyle>
            <a:lvl1pPr indent="-355600" lvl="0" marL="457200" marR="0" rtl="0" algn="just">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6" name="Google Shape;56;p6"/>
          <p:cNvSpPr txBox="1"/>
          <p:nvPr/>
        </p:nvSpPr>
        <p:spPr>
          <a:xfrm>
            <a:off x="2555776" y="223285"/>
            <a:ext cx="4032448"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u="none" cap="none" strike="noStrike">
                <a:solidFill>
                  <a:schemeClr val="dk2"/>
                </a:solidFill>
                <a:latin typeface="Times New Roman"/>
                <a:ea typeface="Times New Roman"/>
                <a:cs typeface="Times New Roman"/>
                <a:sym typeface="Times New Roman"/>
              </a:rPr>
              <a:t>Problem Description</a:t>
            </a:r>
            <a:endParaRPr b="1" i="0" sz="3000" u="none" cap="none" strike="noStrike">
              <a:solidFill>
                <a:schemeClr val="dk2"/>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hodology">
  <p:cSld name="Methodology">
    <p:bg>
      <p:bgPr>
        <a:solidFill>
          <a:schemeClr val="lt1"/>
        </a:solidFill>
      </p:bgPr>
    </p:bg>
    <p:spTree>
      <p:nvGrpSpPr>
        <p:cNvPr id="57" name="Shape 57"/>
        <p:cNvGrpSpPr/>
        <p:nvPr/>
      </p:nvGrpSpPr>
      <p:grpSpPr>
        <a:xfrm>
          <a:off x="0" y="0"/>
          <a:ext cx="0" cy="0"/>
          <a:chOff x="0" y="0"/>
          <a:chExt cx="0" cy="0"/>
        </a:xfrm>
      </p:grpSpPr>
      <p:sp>
        <p:nvSpPr>
          <p:cNvPr id="58" name="Google Shape;58;p7"/>
          <p:cNvSpPr txBox="1"/>
          <p:nvPr>
            <p:ph idx="10" type="dt"/>
          </p:nvPr>
        </p:nvSpPr>
        <p:spPr>
          <a:xfrm>
            <a:off x="337710" y="480322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9" name="Google Shape;59;p7"/>
          <p:cNvSpPr txBox="1"/>
          <p:nvPr>
            <p:ph idx="11" type="ftr"/>
          </p:nvPr>
        </p:nvSpPr>
        <p:spPr>
          <a:xfrm>
            <a:off x="1417831" y="480322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7"/>
          <p:cNvSpPr txBox="1"/>
          <p:nvPr>
            <p:ph idx="12" type="sldNum"/>
          </p:nvPr>
        </p:nvSpPr>
        <p:spPr>
          <a:xfrm>
            <a:off x="8532441" y="479979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indent="0" lvl="0"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1pPr>
            <a:lvl2pPr indent="0" lvl="1"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2pPr>
            <a:lvl3pPr indent="0" lvl="2"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3pPr>
            <a:lvl4pPr indent="0" lvl="3"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4pPr>
            <a:lvl5pPr indent="0" lvl="4"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5pPr>
            <a:lvl6pPr indent="0" lvl="5"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6pPr>
            <a:lvl7pPr indent="0" lvl="6"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7pPr>
            <a:lvl8pPr indent="0" lvl="7"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8pPr>
            <a:lvl9pPr indent="0" lvl="8"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pic>
        <p:nvPicPr>
          <p:cNvPr id="61" name="Google Shape;61;p7"/>
          <p:cNvPicPr preferRelativeResize="0"/>
          <p:nvPr/>
        </p:nvPicPr>
        <p:blipFill rotWithShape="1">
          <a:blip r:embed="rId2">
            <a:alphaModFix/>
          </a:blip>
          <a:srcRect b="0" l="0" r="0" t="0"/>
          <a:stretch/>
        </p:blipFill>
        <p:spPr>
          <a:xfrm>
            <a:off x="7732740" y="546109"/>
            <a:ext cx="1281620" cy="307280"/>
          </a:xfrm>
          <a:prstGeom prst="rect">
            <a:avLst/>
          </a:prstGeom>
          <a:noFill/>
          <a:ln>
            <a:noFill/>
          </a:ln>
        </p:spPr>
      </p:pic>
      <p:pic>
        <p:nvPicPr>
          <p:cNvPr id="62" name="Google Shape;62;p7"/>
          <p:cNvPicPr preferRelativeResize="0"/>
          <p:nvPr/>
        </p:nvPicPr>
        <p:blipFill rotWithShape="1">
          <a:blip r:embed="rId3">
            <a:alphaModFix/>
          </a:blip>
          <a:srcRect b="0" l="0" r="0" t="0"/>
          <a:stretch/>
        </p:blipFill>
        <p:spPr>
          <a:xfrm>
            <a:off x="7804923" y="174966"/>
            <a:ext cx="1137254" cy="325964"/>
          </a:xfrm>
          <a:prstGeom prst="rect">
            <a:avLst/>
          </a:prstGeom>
          <a:noFill/>
          <a:ln>
            <a:noFill/>
          </a:ln>
        </p:spPr>
      </p:pic>
      <p:pic>
        <p:nvPicPr>
          <p:cNvPr id="63" name="Google Shape;63;p7"/>
          <p:cNvPicPr preferRelativeResize="0"/>
          <p:nvPr/>
        </p:nvPicPr>
        <p:blipFill rotWithShape="1">
          <a:blip r:embed="rId4">
            <a:alphaModFix/>
          </a:blip>
          <a:srcRect b="0" l="0" r="0" t="0"/>
          <a:stretch/>
        </p:blipFill>
        <p:spPr>
          <a:xfrm>
            <a:off x="395536" y="131473"/>
            <a:ext cx="742405" cy="829271"/>
          </a:xfrm>
          <a:prstGeom prst="rect">
            <a:avLst/>
          </a:prstGeom>
          <a:noFill/>
          <a:ln>
            <a:noFill/>
          </a:ln>
        </p:spPr>
      </p:pic>
      <p:sp>
        <p:nvSpPr>
          <p:cNvPr id="64" name="Google Shape;64;p7"/>
          <p:cNvSpPr txBox="1"/>
          <p:nvPr>
            <p:ph idx="1" type="body"/>
          </p:nvPr>
        </p:nvSpPr>
        <p:spPr>
          <a:xfrm>
            <a:off x="683568" y="1255174"/>
            <a:ext cx="7992888" cy="3188784"/>
          </a:xfrm>
          <a:prstGeom prst="rect">
            <a:avLst/>
          </a:prstGeom>
          <a:noFill/>
          <a:ln>
            <a:noFill/>
          </a:ln>
        </p:spPr>
        <p:txBody>
          <a:bodyPr anchorCtr="0" anchor="t" bIns="45700" lIns="91425" spcFirstLastPara="1" rIns="91425" wrap="square" tIns="45700">
            <a:noAutofit/>
          </a:bodyPr>
          <a:lstStyle>
            <a:lvl1pPr indent="-355600" lvl="0" marL="457200" marR="0" rtl="0" algn="just">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5" name="Google Shape;65;p7"/>
          <p:cNvSpPr txBox="1"/>
          <p:nvPr/>
        </p:nvSpPr>
        <p:spPr>
          <a:xfrm>
            <a:off x="2280558" y="151217"/>
            <a:ext cx="4582884"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u="none" cap="none" strike="noStrike">
                <a:solidFill>
                  <a:schemeClr val="dk2"/>
                </a:solidFill>
                <a:latin typeface="Times New Roman"/>
                <a:ea typeface="Times New Roman"/>
                <a:cs typeface="Times New Roman"/>
                <a:sym typeface="Times New Roman"/>
              </a:rPr>
              <a:t>Methodology</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lt and Discussion">
  <p:cSld name="Result and Discussion">
    <p:bg>
      <p:bgPr>
        <a:solidFill>
          <a:schemeClr val="lt1"/>
        </a:solidFill>
      </p:bgPr>
    </p:bg>
    <p:spTree>
      <p:nvGrpSpPr>
        <p:cNvPr id="66" name="Shape 66"/>
        <p:cNvGrpSpPr/>
        <p:nvPr/>
      </p:nvGrpSpPr>
      <p:grpSpPr>
        <a:xfrm>
          <a:off x="0" y="0"/>
          <a:ext cx="0" cy="0"/>
          <a:chOff x="0" y="0"/>
          <a:chExt cx="0" cy="0"/>
        </a:xfrm>
      </p:grpSpPr>
      <p:sp>
        <p:nvSpPr>
          <p:cNvPr id="67" name="Google Shape;67;p8"/>
          <p:cNvSpPr txBox="1"/>
          <p:nvPr>
            <p:ph idx="10" type="dt"/>
          </p:nvPr>
        </p:nvSpPr>
        <p:spPr>
          <a:xfrm>
            <a:off x="337710" y="480322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8"/>
          <p:cNvSpPr txBox="1"/>
          <p:nvPr>
            <p:ph idx="11" type="ftr"/>
          </p:nvPr>
        </p:nvSpPr>
        <p:spPr>
          <a:xfrm>
            <a:off x="1417831" y="480322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8"/>
          <p:cNvSpPr txBox="1"/>
          <p:nvPr>
            <p:ph idx="12" type="sldNum"/>
          </p:nvPr>
        </p:nvSpPr>
        <p:spPr>
          <a:xfrm>
            <a:off x="8532441" y="479979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indent="0" lvl="0"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1pPr>
            <a:lvl2pPr indent="0" lvl="1"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2pPr>
            <a:lvl3pPr indent="0" lvl="2"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3pPr>
            <a:lvl4pPr indent="0" lvl="3"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4pPr>
            <a:lvl5pPr indent="0" lvl="4"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5pPr>
            <a:lvl6pPr indent="0" lvl="5"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6pPr>
            <a:lvl7pPr indent="0" lvl="6"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7pPr>
            <a:lvl8pPr indent="0" lvl="7"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8pPr>
            <a:lvl9pPr indent="0" lvl="8"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pic>
        <p:nvPicPr>
          <p:cNvPr id="70" name="Google Shape;70;p8"/>
          <p:cNvPicPr preferRelativeResize="0"/>
          <p:nvPr/>
        </p:nvPicPr>
        <p:blipFill rotWithShape="1">
          <a:blip r:embed="rId2">
            <a:alphaModFix/>
          </a:blip>
          <a:srcRect b="0" l="0" r="0" t="0"/>
          <a:stretch/>
        </p:blipFill>
        <p:spPr>
          <a:xfrm>
            <a:off x="7732740" y="546109"/>
            <a:ext cx="1281620" cy="307280"/>
          </a:xfrm>
          <a:prstGeom prst="rect">
            <a:avLst/>
          </a:prstGeom>
          <a:noFill/>
          <a:ln>
            <a:noFill/>
          </a:ln>
        </p:spPr>
      </p:pic>
      <p:pic>
        <p:nvPicPr>
          <p:cNvPr id="71" name="Google Shape;71;p8"/>
          <p:cNvPicPr preferRelativeResize="0"/>
          <p:nvPr/>
        </p:nvPicPr>
        <p:blipFill rotWithShape="1">
          <a:blip r:embed="rId3">
            <a:alphaModFix/>
          </a:blip>
          <a:srcRect b="0" l="0" r="0" t="0"/>
          <a:stretch/>
        </p:blipFill>
        <p:spPr>
          <a:xfrm>
            <a:off x="7804923" y="168822"/>
            <a:ext cx="1137254" cy="325964"/>
          </a:xfrm>
          <a:prstGeom prst="rect">
            <a:avLst/>
          </a:prstGeom>
          <a:noFill/>
          <a:ln>
            <a:noFill/>
          </a:ln>
        </p:spPr>
      </p:pic>
      <p:pic>
        <p:nvPicPr>
          <p:cNvPr id="72" name="Google Shape;72;p8"/>
          <p:cNvPicPr preferRelativeResize="0"/>
          <p:nvPr/>
        </p:nvPicPr>
        <p:blipFill rotWithShape="1">
          <a:blip r:embed="rId4">
            <a:alphaModFix/>
          </a:blip>
          <a:srcRect b="0" l="0" r="0" t="0"/>
          <a:stretch/>
        </p:blipFill>
        <p:spPr>
          <a:xfrm>
            <a:off x="395536" y="131473"/>
            <a:ext cx="742405" cy="829271"/>
          </a:xfrm>
          <a:prstGeom prst="rect">
            <a:avLst/>
          </a:prstGeom>
          <a:noFill/>
          <a:ln>
            <a:noFill/>
          </a:ln>
        </p:spPr>
      </p:pic>
      <p:sp>
        <p:nvSpPr>
          <p:cNvPr id="73" name="Google Shape;73;p8"/>
          <p:cNvSpPr txBox="1"/>
          <p:nvPr>
            <p:ph idx="1" type="body"/>
          </p:nvPr>
        </p:nvSpPr>
        <p:spPr>
          <a:xfrm>
            <a:off x="683568" y="1255174"/>
            <a:ext cx="7992888" cy="3188784"/>
          </a:xfrm>
          <a:prstGeom prst="rect">
            <a:avLst/>
          </a:prstGeom>
          <a:noFill/>
          <a:ln>
            <a:noFill/>
          </a:ln>
        </p:spPr>
        <p:txBody>
          <a:bodyPr anchorCtr="0" anchor="t" bIns="45700" lIns="91425" spcFirstLastPara="1" rIns="91425" wrap="square" tIns="45700">
            <a:noAutofit/>
          </a:bodyPr>
          <a:lstStyle>
            <a:lvl1pPr indent="-355600" lvl="0" marL="457200" marR="0" rtl="0" algn="just">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4" name="Google Shape;74;p8"/>
          <p:cNvSpPr txBox="1"/>
          <p:nvPr/>
        </p:nvSpPr>
        <p:spPr>
          <a:xfrm>
            <a:off x="2555776" y="223931"/>
            <a:ext cx="4032448"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u="none" cap="none" strike="noStrike">
                <a:solidFill>
                  <a:schemeClr val="dk2"/>
                </a:solidFill>
                <a:latin typeface="Times New Roman"/>
                <a:ea typeface="Times New Roman"/>
                <a:cs typeface="Times New Roman"/>
                <a:sym typeface="Times New Roman"/>
              </a:rPr>
              <a:t>Results and Discussions</a:t>
            </a:r>
            <a:endParaRPr b="1" i="0" sz="3000" u="none" cap="none" strike="noStrike">
              <a:solidFill>
                <a:schemeClr val="dk2"/>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p:cSld name="Conclusion">
    <p:bg>
      <p:bgPr>
        <a:solidFill>
          <a:schemeClr val="lt1"/>
        </a:solidFill>
      </p:bgPr>
    </p:bg>
    <p:spTree>
      <p:nvGrpSpPr>
        <p:cNvPr id="75" name="Shape 75"/>
        <p:cNvGrpSpPr/>
        <p:nvPr/>
      </p:nvGrpSpPr>
      <p:grpSpPr>
        <a:xfrm>
          <a:off x="0" y="0"/>
          <a:ext cx="0" cy="0"/>
          <a:chOff x="0" y="0"/>
          <a:chExt cx="0" cy="0"/>
        </a:xfrm>
      </p:grpSpPr>
      <p:sp>
        <p:nvSpPr>
          <p:cNvPr id="76" name="Google Shape;76;p9"/>
          <p:cNvSpPr txBox="1"/>
          <p:nvPr>
            <p:ph idx="10" type="dt"/>
          </p:nvPr>
        </p:nvSpPr>
        <p:spPr>
          <a:xfrm>
            <a:off x="337710" y="480322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9"/>
          <p:cNvSpPr txBox="1"/>
          <p:nvPr>
            <p:ph idx="11" type="ftr"/>
          </p:nvPr>
        </p:nvSpPr>
        <p:spPr>
          <a:xfrm>
            <a:off x="1417831" y="480322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9"/>
          <p:cNvSpPr txBox="1"/>
          <p:nvPr>
            <p:ph idx="12" type="sldNum"/>
          </p:nvPr>
        </p:nvSpPr>
        <p:spPr>
          <a:xfrm>
            <a:off x="8532441" y="479979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indent="0" lvl="0"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1pPr>
            <a:lvl2pPr indent="0" lvl="1"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2pPr>
            <a:lvl3pPr indent="0" lvl="2"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3pPr>
            <a:lvl4pPr indent="0" lvl="3"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4pPr>
            <a:lvl5pPr indent="0" lvl="4"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5pPr>
            <a:lvl6pPr indent="0" lvl="5"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6pPr>
            <a:lvl7pPr indent="0" lvl="6"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7pPr>
            <a:lvl8pPr indent="0" lvl="7"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8pPr>
            <a:lvl9pPr indent="0" lvl="8"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pic>
        <p:nvPicPr>
          <p:cNvPr id="79" name="Google Shape;79;p9"/>
          <p:cNvPicPr preferRelativeResize="0"/>
          <p:nvPr/>
        </p:nvPicPr>
        <p:blipFill rotWithShape="1">
          <a:blip r:embed="rId2">
            <a:alphaModFix/>
          </a:blip>
          <a:srcRect b="0" l="0" r="0" t="0"/>
          <a:stretch/>
        </p:blipFill>
        <p:spPr>
          <a:xfrm>
            <a:off x="7732740" y="546109"/>
            <a:ext cx="1281620" cy="307280"/>
          </a:xfrm>
          <a:prstGeom prst="rect">
            <a:avLst/>
          </a:prstGeom>
          <a:noFill/>
          <a:ln>
            <a:noFill/>
          </a:ln>
        </p:spPr>
      </p:pic>
      <p:pic>
        <p:nvPicPr>
          <p:cNvPr id="80" name="Google Shape;80;p9"/>
          <p:cNvPicPr preferRelativeResize="0"/>
          <p:nvPr/>
        </p:nvPicPr>
        <p:blipFill rotWithShape="1">
          <a:blip r:embed="rId3">
            <a:alphaModFix/>
          </a:blip>
          <a:srcRect b="0" l="0" r="0" t="0"/>
          <a:stretch/>
        </p:blipFill>
        <p:spPr>
          <a:xfrm>
            <a:off x="7804923" y="174966"/>
            <a:ext cx="1137254" cy="325964"/>
          </a:xfrm>
          <a:prstGeom prst="rect">
            <a:avLst/>
          </a:prstGeom>
          <a:noFill/>
          <a:ln>
            <a:noFill/>
          </a:ln>
        </p:spPr>
      </p:pic>
      <p:pic>
        <p:nvPicPr>
          <p:cNvPr id="81" name="Google Shape;81;p9"/>
          <p:cNvPicPr preferRelativeResize="0"/>
          <p:nvPr/>
        </p:nvPicPr>
        <p:blipFill rotWithShape="1">
          <a:blip r:embed="rId4">
            <a:alphaModFix/>
          </a:blip>
          <a:srcRect b="0" l="0" r="0" t="0"/>
          <a:stretch/>
        </p:blipFill>
        <p:spPr>
          <a:xfrm>
            <a:off x="395536" y="131473"/>
            <a:ext cx="742405" cy="829271"/>
          </a:xfrm>
          <a:prstGeom prst="rect">
            <a:avLst/>
          </a:prstGeom>
          <a:noFill/>
          <a:ln>
            <a:noFill/>
          </a:ln>
        </p:spPr>
      </p:pic>
      <p:sp>
        <p:nvSpPr>
          <p:cNvPr id="82" name="Google Shape;82;p9"/>
          <p:cNvSpPr txBox="1"/>
          <p:nvPr>
            <p:ph idx="1" type="body"/>
          </p:nvPr>
        </p:nvSpPr>
        <p:spPr>
          <a:xfrm>
            <a:off x="683568" y="1255174"/>
            <a:ext cx="7992888" cy="3188784"/>
          </a:xfrm>
          <a:prstGeom prst="rect">
            <a:avLst/>
          </a:prstGeom>
          <a:noFill/>
          <a:ln>
            <a:noFill/>
          </a:ln>
        </p:spPr>
        <p:txBody>
          <a:bodyPr anchorCtr="0" anchor="t" bIns="45700" lIns="91425" spcFirstLastPara="1" rIns="91425" wrap="square" tIns="45700">
            <a:noAutofit/>
          </a:bodyPr>
          <a:lstStyle>
            <a:lvl1pPr indent="-355600" lvl="0" marL="457200" marR="0" rtl="0" algn="l">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3" name="Google Shape;83;p9"/>
          <p:cNvSpPr txBox="1"/>
          <p:nvPr/>
        </p:nvSpPr>
        <p:spPr>
          <a:xfrm>
            <a:off x="3167844" y="178641"/>
            <a:ext cx="2808312"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u="none" cap="none" strike="noStrike">
                <a:solidFill>
                  <a:schemeClr val="dk2"/>
                </a:solidFill>
                <a:latin typeface="Times New Roman"/>
                <a:ea typeface="Times New Roman"/>
                <a:cs typeface="Times New Roman"/>
                <a:sym typeface="Times New Roman"/>
              </a:rPr>
              <a:t>Conclusions</a:t>
            </a:r>
            <a:endParaRPr b="1" i="0" sz="3000" u="none" cap="none" strike="noStrike">
              <a:solidFill>
                <a:schemeClr val="dk2"/>
              </a:solidFill>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erences">
  <p:cSld name="References">
    <p:bg>
      <p:bgPr>
        <a:solidFill>
          <a:schemeClr val="lt1"/>
        </a:solidFill>
      </p:bgPr>
    </p:bg>
    <p:spTree>
      <p:nvGrpSpPr>
        <p:cNvPr id="84" name="Shape 84"/>
        <p:cNvGrpSpPr/>
        <p:nvPr/>
      </p:nvGrpSpPr>
      <p:grpSpPr>
        <a:xfrm>
          <a:off x="0" y="0"/>
          <a:ext cx="0" cy="0"/>
          <a:chOff x="0" y="0"/>
          <a:chExt cx="0" cy="0"/>
        </a:xfrm>
      </p:grpSpPr>
      <p:sp>
        <p:nvSpPr>
          <p:cNvPr id="85" name="Google Shape;85;p10"/>
          <p:cNvSpPr txBox="1"/>
          <p:nvPr>
            <p:ph idx="10" type="dt"/>
          </p:nvPr>
        </p:nvSpPr>
        <p:spPr>
          <a:xfrm>
            <a:off x="337710" y="480322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6" name="Google Shape;86;p10"/>
          <p:cNvSpPr txBox="1"/>
          <p:nvPr>
            <p:ph idx="11" type="ftr"/>
          </p:nvPr>
        </p:nvSpPr>
        <p:spPr>
          <a:xfrm>
            <a:off x="1417831" y="480322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7" name="Google Shape;87;p10"/>
          <p:cNvSpPr txBox="1"/>
          <p:nvPr>
            <p:ph idx="12" type="sldNum"/>
          </p:nvPr>
        </p:nvSpPr>
        <p:spPr>
          <a:xfrm>
            <a:off x="8532441" y="479979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indent="0" lvl="0"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1pPr>
            <a:lvl2pPr indent="0" lvl="1"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2pPr>
            <a:lvl3pPr indent="0" lvl="2"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3pPr>
            <a:lvl4pPr indent="0" lvl="3"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4pPr>
            <a:lvl5pPr indent="0" lvl="4"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5pPr>
            <a:lvl6pPr indent="0" lvl="5"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6pPr>
            <a:lvl7pPr indent="0" lvl="6"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7pPr>
            <a:lvl8pPr indent="0" lvl="7"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8pPr>
            <a:lvl9pPr indent="0" lvl="8"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pic>
        <p:nvPicPr>
          <p:cNvPr id="88" name="Google Shape;88;p10"/>
          <p:cNvPicPr preferRelativeResize="0"/>
          <p:nvPr/>
        </p:nvPicPr>
        <p:blipFill rotWithShape="1">
          <a:blip r:embed="rId2">
            <a:alphaModFix/>
          </a:blip>
          <a:srcRect b="0" l="0" r="0" t="0"/>
          <a:stretch/>
        </p:blipFill>
        <p:spPr>
          <a:xfrm>
            <a:off x="7732740" y="546109"/>
            <a:ext cx="1281620" cy="307280"/>
          </a:xfrm>
          <a:prstGeom prst="rect">
            <a:avLst/>
          </a:prstGeom>
          <a:noFill/>
          <a:ln>
            <a:noFill/>
          </a:ln>
        </p:spPr>
      </p:pic>
      <p:pic>
        <p:nvPicPr>
          <p:cNvPr id="89" name="Google Shape;89;p10"/>
          <p:cNvPicPr preferRelativeResize="0"/>
          <p:nvPr/>
        </p:nvPicPr>
        <p:blipFill rotWithShape="1">
          <a:blip r:embed="rId3">
            <a:alphaModFix/>
          </a:blip>
          <a:srcRect b="0" l="0" r="0" t="0"/>
          <a:stretch/>
        </p:blipFill>
        <p:spPr>
          <a:xfrm>
            <a:off x="7804923" y="165261"/>
            <a:ext cx="1137254" cy="325964"/>
          </a:xfrm>
          <a:prstGeom prst="rect">
            <a:avLst/>
          </a:prstGeom>
          <a:noFill/>
          <a:ln>
            <a:noFill/>
          </a:ln>
        </p:spPr>
      </p:pic>
      <p:pic>
        <p:nvPicPr>
          <p:cNvPr id="90" name="Google Shape;90;p10"/>
          <p:cNvPicPr preferRelativeResize="0"/>
          <p:nvPr/>
        </p:nvPicPr>
        <p:blipFill rotWithShape="1">
          <a:blip r:embed="rId4">
            <a:alphaModFix/>
          </a:blip>
          <a:srcRect b="0" l="0" r="0" t="0"/>
          <a:stretch/>
        </p:blipFill>
        <p:spPr>
          <a:xfrm>
            <a:off x="395536" y="131473"/>
            <a:ext cx="742405" cy="829271"/>
          </a:xfrm>
          <a:prstGeom prst="rect">
            <a:avLst/>
          </a:prstGeom>
          <a:noFill/>
          <a:ln>
            <a:noFill/>
          </a:ln>
        </p:spPr>
      </p:pic>
      <p:sp>
        <p:nvSpPr>
          <p:cNvPr id="91" name="Google Shape;91;p10"/>
          <p:cNvSpPr txBox="1"/>
          <p:nvPr>
            <p:ph idx="1" type="body"/>
          </p:nvPr>
        </p:nvSpPr>
        <p:spPr>
          <a:xfrm>
            <a:off x="683568" y="1255174"/>
            <a:ext cx="7992888" cy="3188784"/>
          </a:xfrm>
          <a:prstGeom prst="rect">
            <a:avLst/>
          </a:prstGeom>
          <a:noFill/>
          <a:ln>
            <a:noFill/>
          </a:ln>
        </p:spPr>
        <p:txBody>
          <a:bodyPr anchorCtr="0" anchor="t" bIns="45700" lIns="91425" spcFirstLastPara="1" rIns="91425" wrap="square" tIns="45700">
            <a:noAutofit/>
          </a:bodyPr>
          <a:lstStyle>
            <a:lvl1pPr indent="-355600" lvl="0" marL="457200" marR="0" rtl="0" algn="just">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2" name="Google Shape;92;p10"/>
          <p:cNvSpPr txBox="1"/>
          <p:nvPr/>
        </p:nvSpPr>
        <p:spPr>
          <a:xfrm>
            <a:off x="2951820" y="207750"/>
            <a:ext cx="324036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u="none" cap="none" strike="noStrike">
                <a:solidFill>
                  <a:schemeClr val="dk2"/>
                </a:solidFill>
                <a:latin typeface="Times New Roman"/>
                <a:ea typeface="Times New Roman"/>
                <a:cs typeface="Times New Roman"/>
                <a:sym typeface="Times New Roman"/>
              </a:rPr>
              <a:t>References</a:t>
            </a:r>
            <a:endParaRPr b="1" i="0" sz="3000" u="none" cap="none" strike="noStrike">
              <a:solidFill>
                <a:schemeClr val="dk2"/>
              </a:solidFill>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Thank You Slide">
    <p:spTree>
      <p:nvGrpSpPr>
        <p:cNvPr id="93" name="Shape 93"/>
        <p:cNvGrpSpPr/>
        <p:nvPr/>
      </p:nvGrpSpPr>
      <p:grpSpPr>
        <a:xfrm>
          <a:off x="0" y="0"/>
          <a:ext cx="0" cy="0"/>
          <a:chOff x="0" y="0"/>
          <a:chExt cx="0" cy="0"/>
        </a:xfrm>
      </p:grpSpPr>
      <p:sp>
        <p:nvSpPr>
          <p:cNvPr id="94" name="Google Shape;94;p11"/>
          <p:cNvSpPr/>
          <p:nvPr/>
        </p:nvSpPr>
        <p:spPr>
          <a:xfrm flipH="1" rot="10800000">
            <a:off x="1122671" y="1332386"/>
            <a:ext cx="1205480" cy="2478727"/>
          </a:xfrm>
          <a:prstGeom prst="corner">
            <a:avLst>
              <a:gd fmla="val 7397" name="adj1"/>
              <a:gd fmla="val 7750" name="adj2"/>
            </a:avLst>
          </a:prstGeom>
          <a:solidFill>
            <a:schemeClr val="accent3"/>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5" name="Google Shape;95;p11"/>
          <p:cNvSpPr/>
          <p:nvPr/>
        </p:nvSpPr>
        <p:spPr>
          <a:xfrm flipH="1" rot="10800000">
            <a:off x="1039977" y="1264314"/>
            <a:ext cx="1370868" cy="2627738"/>
          </a:xfrm>
          <a:prstGeom prst="corner">
            <a:avLst>
              <a:gd fmla="val 6149" name="adj1"/>
              <a:gd fmla="val 6814" name="adj2"/>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6" name="Google Shape;96;p11"/>
          <p:cNvSpPr/>
          <p:nvPr/>
        </p:nvSpPr>
        <p:spPr>
          <a:xfrm flipH="1">
            <a:off x="6605527" y="1386997"/>
            <a:ext cx="1050624" cy="2340654"/>
          </a:xfrm>
          <a:prstGeom prst="corner">
            <a:avLst>
              <a:gd fmla="val 7397" name="adj1"/>
              <a:gd fmla="val 7750" name="adj2"/>
            </a:avLst>
          </a:prstGeom>
          <a:solidFill>
            <a:schemeClr val="accent3"/>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7" name="Google Shape;97;p11"/>
          <p:cNvSpPr/>
          <p:nvPr/>
        </p:nvSpPr>
        <p:spPr>
          <a:xfrm flipH="1">
            <a:off x="6545586" y="1329748"/>
            <a:ext cx="1194766" cy="2481365"/>
          </a:xfrm>
          <a:prstGeom prst="corner">
            <a:avLst>
              <a:gd fmla="val 6773" name="adj1"/>
              <a:gd fmla="val 6814" name="adj2"/>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8" name="Google Shape;98;p11"/>
          <p:cNvPicPr preferRelativeResize="0"/>
          <p:nvPr/>
        </p:nvPicPr>
        <p:blipFill rotWithShape="1">
          <a:blip r:embed="rId2">
            <a:alphaModFix/>
          </a:blip>
          <a:srcRect b="0" l="0" r="0" t="0"/>
          <a:stretch/>
        </p:blipFill>
        <p:spPr>
          <a:xfrm>
            <a:off x="5724128" y="160934"/>
            <a:ext cx="3137297" cy="752196"/>
          </a:xfrm>
          <a:prstGeom prst="rect">
            <a:avLst/>
          </a:prstGeom>
          <a:noFill/>
          <a:ln>
            <a:noFill/>
          </a:ln>
        </p:spPr>
      </p:pic>
      <p:pic>
        <p:nvPicPr>
          <p:cNvPr id="99" name="Google Shape;99;p11"/>
          <p:cNvPicPr preferRelativeResize="0"/>
          <p:nvPr/>
        </p:nvPicPr>
        <p:blipFill rotWithShape="1">
          <a:blip r:embed="rId3">
            <a:alphaModFix/>
          </a:blip>
          <a:srcRect b="0" l="0" r="0" t="0"/>
          <a:stretch/>
        </p:blipFill>
        <p:spPr>
          <a:xfrm>
            <a:off x="2766323" y="119209"/>
            <a:ext cx="2624325" cy="752195"/>
          </a:xfrm>
          <a:prstGeom prst="rect">
            <a:avLst/>
          </a:prstGeom>
          <a:noFill/>
          <a:ln>
            <a:noFill/>
          </a:ln>
        </p:spPr>
      </p:pic>
      <p:pic>
        <p:nvPicPr>
          <p:cNvPr id="100" name="Google Shape;100;p11"/>
          <p:cNvPicPr preferRelativeResize="0"/>
          <p:nvPr/>
        </p:nvPicPr>
        <p:blipFill rotWithShape="1">
          <a:blip r:embed="rId4">
            <a:alphaModFix/>
          </a:blip>
          <a:srcRect b="0" l="0" r="0" t="0"/>
          <a:stretch/>
        </p:blipFill>
        <p:spPr>
          <a:xfrm>
            <a:off x="395536" y="80266"/>
            <a:ext cx="817840" cy="913531"/>
          </a:xfrm>
          <a:prstGeom prst="rect">
            <a:avLst/>
          </a:prstGeom>
          <a:noFill/>
          <a:ln>
            <a:noFill/>
          </a:ln>
        </p:spPr>
      </p:pic>
      <p:sp>
        <p:nvSpPr>
          <p:cNvPr id="101" name="Google Shape;101;p11"/>
          <p:cNvSpPr txBox="1"/>
          <p:nvPr>
            <p:ph idx="10" type="dt"/>
          </p:nvPr>
        </p:nvSpPr>
        <p:spPr>
          <a:xfrm>
            <a:off x="337712" y="478467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 name="Google Shape;102;p11"/>
          <p:cNvSpPr txBox="1"/>
          <p:nvPr>
            <p:ph idx="11" type="ftr"/>
          </p:nvPr>
        </p:nvSpPr>
        <p:spPr>
          <a:xfrm>
            <a:off x="1417832" y="478467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3" name="Google Shape;103;p11"/>
          <p:cNvSpPr txBox="1"/>
          <p:nvPr>
            <p:ph idx="12" type="sldNum"/>
          </p:nvPr>
        </p:nvSpPr>
        <p:spPr>
          <a:xfrm>
            <a:off x="8532441" y="478124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lvl1pPr indent="0" lvl="0"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1pPr>
            <a:lvl2pPr indent="0" lvl="1"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2pPr>
            <a:lvl3pPr indent="0" lvl="2"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3pPr>
            <a:lvl4pPr indent="0" lvl="3"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4pPr>
            <a:lvl5pPr indent="0" lvl="4"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5pPr>
            <a:lvl6pPr indent="0" lvl="5"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6pPr>
            <a:lvl7pPr indent="0" lvl="6"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7pPr>
            <a:lvl8pPr indent="0" lvl="7"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8pPr>
            <a:lvl9pPr indent="0" lvl="8" marL="0" marR="0" rtl="0" algn="ctr">
              <a:spcBef>
                <a:spcPts val="0"/>
              </a:spcBef>
              <a:buNone/>
              <a:defRPr b="0" i="0" sz="1400" u="none" cap="none" strike="noStrike">
                <a:solidFill>
                  <a:schemeClr val="dk1"/>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cxnSp>
        <p:nvCxnSpPr>
          <p:cNvPr id="104" name="Google Shape;104;p11"/>
          <p:cNvCxnSpPr>
            <a:endCxn id="103" idx="0"/>
          </p:cNvCxnSpPr>
          <p:nvPr/>
        </p:nvCxnSpPr>
        <p:spPr>
          <a:xfrm>
            <a:off x="8820667" y="-39457"/>
            <a:ext cx="4800" cy="4820700"/>
          </a:xfrm>
          <a:prstGeom prst="straightConnector1">
            <a:avLst/>
          </a:prstGeom>
          <a:noFill/>
          <a:ln cap="flat" cmpd="sng" w="38100">
            <a:solidFill>
              <a:srgbClr val="660066"/>
            </a:solidFill>
            <a:prstDash val="solid"/>
            <a:round/>
            <a:headEnd len="sm" w="sm" type="none"/>
            <a:tailEnd len="sm" w="sm" type="none"/>
          </a:ln>
        </p:spPr>
      </p:cxnSp>
      <p:sp>
        <p:nvSpPr>
          <p:cNvPr id="105" name="Google Shape;105;p11"/>
          <p:cNvSpPr txBox="1"/>
          <p:nvPr/>
        </p:nvSpPr>
        <p:spPr>
          <a:xfrm>
            <a:off x="2766323" y="2139300"/>
            <a:ext cx="3611355" cy="1631216"/>
          </a:xfrm>
          <a:prstGeom prst="rect">
            <a:avLst/>
          </a:prstGeom>
          <a:solidFill>
            <a:schemeClr val="dk2"/>
          </a:solidFill>
          <a:ln cap="flat" cmpd="sng" w="38100">
            <a:solidFill>
              <a:schemeClr val="lt1"/>
            </a:solidFill>
            <a:prstDash val="solid"/>
            <a:round/>
            <a:headEnd len="sm" w="sm" type="none"/>
            <a:tailEnd len="sm" w="sm" type="none"/>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5000" u="none" cap="none" strike="noStrike">
                <a:solidFill>
                  <a:schemeClr val="lt1"/>
                </a:solidFill>
                <a:latin typeface="Times New Roman"/>
                <a:ea typeface="Times New Roman"/>
                <a:cs typeface="Times New Roman"/>
                <a:sym typeface="Times New Roman"/>
              </a:rPr>
              <a:t>Thank You</a:t>
            </a:r>
            <a:endParaRPr/>
          </a:p>
          <a:p>
            <a:pPr indent="0" lvl="0" marL="0" marR="0" rtl="0" algn="ctr">
              <a:spcBef>
                <a:spcPts val="0"/>
              </a:spcBef>
              <a:spcAft>
                <a:spcPts val="0"/>
              </a:spcAft>
              <a:buNone/>
            </a:pPr>
            <a:r>
              <a:rPr b="0" i="0" lang="en-US" sz="5000" u="none" cap="none" strike="noStrike">
                <a:solidFill>
                  <a:schemeClr val="lt1"/>
                </a:solidFill>
                <a:latin typeface="Times New Roman"/>
                <a:ea typeface="Times New Roman"/>
                <a:cs typeface="Times New Roman"/>
                <a:sym typeface="Times New Roman"/>
              </a:rPr>
              <a:t>Questions?</a:t>
            </a:r>
            <a:endParaRPr b="0" i="0" sz="5000" u="none" cap="none" strike="noStrike">
              <a:solidFill>
                <a:schemeClr val="lt1"/>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cxnSp>
        <p:nvCxnSpPr>
          <p:cNvPr id="10" name="Google Shape;10;p1"/>
          <p:cNvCxnSpPr/>
          <p:nvPr/>
        </p:nvCxnSpPr>
        <p:spPr>
          <a:xfrm flipH="1">
            <a:off x="323528" y="-35616"/>
            <a:ext cx="17823" cy="5144492"/>
          </a:xfrm>
          <a:prstGeom prst="straightConnector1">
            <a:avLst/>
          </a:prstGeom>
          <a:noFill/>
          <a:ln cap="flat" cmpd="sng" w="38100">
            <a:solidFill>
              <a:srgbClr val="660066"/>
            </a:solidFill>
            <a:prstDash val="solid"/>
            <a:round/>
            <a:headEnd len="sm" w="sm" type="none"/>
            <a:tailEnd len="sm" w="sm" type="none"/>
          </a:ln>
        </p:spPr>
      </p:cxnSp>
      <p:cxnSp>
        <p:nvCxnSpPr>
          <p:cNvPr id="11" name="Google Shape;11;p1"/>
          <p:cNvCxnSpPr/>
          <p:nvPr/>
        </p:nvCxnSpPr>
        <p:spPr>
          <a:xfrm>
            <a:off x="0" y="987574"/>
            <a:ext cx="9144000" cy="0"/>
          </a:xfrm>
          <a:prstGeom prst="straightConnector1">
            <a:avLst/>
          </a:prstGeom>
          <a:noFill/>
          <a:ln cap="flat" cmpd="sng" w="38100">
            <a:solidFill>
              <a:srgbClr val="4A7DBA"/>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3.jp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3.jp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3.jp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2"/>
          <p:cNvSpPr txBox="1"/>
          <p:nvPr>
            <p:ph type="title"/>
          </p:nvPr>
        </p:nvSpPr>
        <p:spPr>
          <a:xfrm>
            <a:off x="1410944" y="1253318"/>
            <a:ext cx="6408600" cy="1200600"/>
          </a:xfrm>
          <a:prstGeom prst="rect">
            <a:avLst/>
          </a:prstGeom>
          <a:solidFill>
            <a:srgbClr val="DAEEF3"/>
          </a:solidFill>
          <a:ln cap="flat" cmpd="sng" w="9525">
            <a:solidFill>
              <a:srgbClr val="002060"/>
            </a:solidFill>
            <a:prstDash val="solid"/>
            <a:round/>
            <a:headEnd len="sm" w="sm" type="none"/>
            <a:tailEnd len="sm" w="sm" type="none"/>
          </a:ln>
          <a:effectLst>
            <a:outerShdw blurRad="44450" algn="ctr" dir="5400000" dist="27940">
              <a:srgbClr val="000000">
                <a:alpha val="31764"/>
              </a:srgbClr>
            </a:outerShdw>
          </a:effectLst>
        </p:spPr>
        <p:txBody>
          <a:bodyPr anchorCtr="0" anchor="t" bIns="45700" lIns="91425" spcFirstLastPara="1" rIns="91425" wrap="square" tIns="45700">
            <a:spAutoFit/>
          </a:bodyPr>
          <a:lstStyle/>
          <a:p>
            <a:pPr indent="0" lvl="0" marL="0" rtl="0" algn="ctr">
              <a:spcBef>
                <a:spcPts val="0"/>
              </a:spcBef>
              <a:spcAft>
                <a:spcPts val="0"/>
              </a:spcAft>
              <a:buClr>
                <a:srgbClr val="222222"/>
              </a:buClr>
              <a:buSzPts val="1800"/>
              <a:buFont typeface="Arial"/>
              <a:buNone/>
            </a:pPr>
            <a:r>
              <a:rPr b="0" i="0" lang="en-US">
                <a:solidFill>
                  <a:srgbClr val="222222"/>
                </a:solidFill>
                <a:latin typeface="Arial"/>
                <a:ea typeface="Arial"/>
                <a:cs typeface="Arial"/>
                <a:sym typeface="Arial"/>
              </a:rPr>
              <a:t>Supervision meets Self-</a:t>
            </a:r>
            <a:r>
              <a:rPr lang="en-US">
                <a:solidFill>
                  <a:srgbClr val="222222"/>
                </a:solidFill>
                <a:latin typeface="Arial"/>
                <a:ea typeface="Arial"/>
                <a:cs typeface="Arial"/>
                <a:sym typeface="Arial"/>
              </a:rPr>
              <a:t>S</a:t>
            </a:r>
            <a:r>
              <a:rPr b="0" i="0" lang="en-US">
                <a:solidFill>
                  <a:srgbClr val="222222"/>
                </a:solidFill>
                <a:latin typeface="Arial"/>
                <a:ea typeface="Arial"/>
                <a:cs typeface="Arial"/>
                <a:sym typeface="Arial"/>
              </a:rPr>
              <a:t>upervision: A Deep Multitask Network for Colorectal Cancer Histopathological Analysis</a:t>
            </a:r>
            <a:endParaRPr b="0" i="0">
              <a:solidFill>
                <a:srgbClr val="222222"/>
              </a:solidFill>
              <a:latin typeface="Arial"/>
              <a:ea typeface="Arial"/>
              <a:cs typeface="Arial"/>
              <a:sym typeface="Arial"/>
            </a:endParaRPr>
          </a:p>
          <a:p>
            <a:pPr indent="0" lvl="0" marL="0" rtl="0" algn="ctr">
              <a:spcBef>
                <a:spcPts val="0"/>
              </a:spcBef>
              <a:spcAft>
                <a:spcPts val="0"/>
              </a:spcAft>
              <a:buClr>
                <a:srgbClr val="222222"/>
              </a:buClr>
              <a:buSzPts val="1800"/>
              <a:buFont typeface="Arial"/>
              <a:buNone/>
            </a:pPr>
            <a:br>
              <a:rPr b="0" i="0" lang="en-US">
                <a:solidFill>
                  <a:srgbClr val="222222"/>
                </a:solidFill>
                <a:latin typeface="Arial"/>
                <a:ea typeface="Arial"/>
                <a:cs typeface="Arial"/>
                <a:sym typeface="Arial"/>
              </a:rPr>
            </a:br>
            <a:r>
              <a:rPr b="0" i="0" lang="en-US">
                <a:solidFill>
                  <a:srgbClr val="222222"/>
                </a:solidFill>
                <a:latin typeface="Arial"/>
                <a:ea typeface="Arial"/>
                <a:cs typeface="Arial"/>
                <a:sym typeface="Arial"/>
              </a:rPr>
              <a:t>ID: 273</a:t>
            </a:r>
            <a:endParaRPr/>
          </a:p>
        </p:txBody>
      </p:sp>
      <p:sp>
        <p:nvSpPr>
          <p:cNvPr id="111" name="Google Shape;111;p12"/>
          <p:cNvSpPr txBox="1"/>
          <p:nvPr>
            <p:ph idx="1" type="body"/>
          </p:nvPr>
        </p:nvSpPr>
        <p:spPr>
          <a:xfrm>
            <a:off x="1367645" y="2818953"/>
            <a:ext cx="6408711" cy="452882"/>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000"/>
              <a:buNone/>
            </a:pPr>
            <a:r>
              <a:rPr lang="en-US"/>
              <a:t>Aritra Marik, </a:t>
            </a:r>
            <a:r>
              <a:rPr lang="en-US"/>
              <a:t>Soumitri Chattopadhyay, Pawan Kumar Singh</a:t>
            </a:r>
            <a:endParaRPr/>
          </a:p>
        </p:txBody>
      </p:sp>
      <p:sp>
        <p:nvSpPr>
          <p:cNvPr id="112" name="Google Shape;112;p12"/>
          <p:cNvSpPr txBox="1"/>
          <p:nvPr>
            <p:ph idx="2" type="body"/>
          </p:nvPr>
        </p:nvSpPr>
        <p:spPr>
          <a:xfrm>
            <a:off x="939199" y="3410375"/>
            <a:ext cx="7352100" cy="45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000"/>
              <a:buNone/>
            </a:pPr>
            <a:r>
              <a:rPr lang="en-US"/>
              <a:t>Dept. of Information Technology, Jadavpur University, </a:t>
            </a:r>
            <a:r>
              <a:rPr lang="en-US"/>
              <a:t>Kolkata, India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idx="10" type="dt"/>
          </p:nvPr>
        </p:nvSpPr>
        <p:spPr>
          <a:xfrm>
            <a:off x="337710" y="480322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12-03-2022</a:t>
            </a:r>
            <a:endParaRPr/>
          </a:p>
        </p:txBody>
      </p:sp>
      <p:sp>
        <p:nvSpPr>
          <p:cNvPr id="118" name="Google Shape;118;p13"/>
          <p:cNvSpPr txBox="1"/>
          <p:nvPr>
            <p:ph idx="11" type="ftr"/>
          </p:nvPr>
        </p:nvSpPr>
        <p:spPr>
          <a:xfrm>
            <a:off x="1417831" y="480322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119" name="Google Shape;119;p13"/>
          <p:cNvSpPr txBox="1"/>
          <p:nvPr>
            <p:ph idx="12" type="sldNum"/>
          </p:nvPr>
        </p:nvSpPr>
        <p:spPr>
          <a:xfrm>
            <a:off x="8532441" y="479979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20" name="Google Shape;120;p13"/>
          <p:cNvSpPr txBox="1"/>
          <p:nvPr>
            <p:ph idx="1" type="body"/>
          </p:nvPr>
        </p:nvSpPr>
        <p:spPr>
          <a:xfrm>
            <a:off x="683568" y="1255174"/>
            <a:ext cx="7992888" cy="3188784"/>
          </a:xfrm>
          <a:prstGeom prst="rect">
            <a:avLst/>
          </a:prstGeom>
          <a:noFill/>
          <a:ln>
            <a:noFill/>
          </a:ln>
        </p:spPr>
        <p:txBody>
          <a:bodyPr anchorCtr="0" anchor="t" bIns="45700" lIns="91425" spcFirstLastPara="1" rIns="91425" wrap="square" tIns="45700">
            <a:noAutofit/>
          </a:bodyPr>
          <a:lstStyle/>
          <a:p>
            <a:pPr indent="-355600" lvl="0" marL="457200" rtl="0" algn="l">
              <a:spcBef>
                <a:spcPts val="0"/>
              </a:spcBef>
              <a:spcAft>
                <a:spcPts val="0"/>
              </a:spcAft>
              <a:buSzPts val="2000"/>
              <a:buAutoNum type="arabicPeriod"/>
            </a:pPr>
            <a:r>
              <a:rPr lang="en-US"/>
              <a:t>Background</a:t>
            </a:r>
            <a:endParaRPr/>
          </a:p>
          <a:p>
            <a:pPr indent="-355600" lvl="0" marL="457200" rtl="0" algn="l">
              <a:spcBef>
                <a:spcPts val="0"/>
              </a:spcBef>
              <a:spcAft>
                <a:spcPts val="0"/>
              </a:spcAft>
              <a:buSzPts val="2000"/>
              <a:buAutoNum type="arabicPeriod"/>
            </a:pPr>
            <a:r>
              <a:rPr lang="en-US"/>
              <a:t>Literature Survey</a:t>
            </a:r>
            <a:endParaRPr/>
          </a:p>
          <a:p>
            <a:pPr indent="-355600" lvl="0" marL="457200" rtl="0" algn="l">
              <a:spcBef>
                <a:spcPts val="0"/>
              </a:spcBef>
              <a:spcAft>
                <a:spcPts val="0"/>
              </a:spcAft>
              <a:buSzPts val="2000"/>
              <a:buAutoNum type="arabicPeriod"/>
            </a:pPr>
            <a:r>
              <a:rPr lang="en-US"/>
              <a:t>Problem Description</a:t>
            </a:r>
            <a:endParaRPr/>
          </a:p>
          <a:p>
            <a:pPr indent="-355600" lvl="0" marL="457200" rtl="0" algn="l">
              <a:spcBef>
                <a:spcPts val="0"/>
              </a:spcBef>
              <a:spcAft>
                <a:spcPts val="0"/>
              </a:spcAft>
              <a:buSzPts val="2000"/>
              <a:buAutoNum type="arabicPeriod"/>
            </a:pPr>
            <a:r>
              <a:rPr lang="en-US"/>
              <a:t>Methodology</a:t>
            </a:r>
            <a:endParaRPr/>
          </a:p>
          <a:p>
            <a:pPr indent="-355600" lvl="0" marL="457200" rtl="0" algn="l">
              <a:spcBef>
                <a:spcPts val="0"/>
              </a:spcBef>
              <a:spcAft>
                <a:spcPts val="0"/>
              </a:spcAft>
              <a:buSzPts val="2000"/>
              <a:buAutoNum type="arabicPeriod"/>
            </a:pPr>
            <a:r>
              <a:rPr lang="en-US"/>
              <a:t>Results and Discussion</a:t>
            </a:r>
            <a:endParaRPr/>
          </a:p>
          <a:p>
            <a:pPr indent="-355600" lvl="0" marL="457200" rtl="0" algn="l">
              <a:spcBef>
                <a:spcPts val="0"/>
              </a:spcBef>
              <a:spcAft>
                <a:spcPts val="0"/>
              </a:spcAft>
              <a:buSzPts val="2000"/>
              <a:buAutoNum type="arabicPeriod"/>
            </a:pPr>
            <a:r>
              <a:rPr lang="en-US"/>
              <a:t>Conclusion</a:t>
            </a:r>
            <a:endParaRPr/>
          </a:p>
          <a:p>
            <a:pPr indent="-355600" lvl="0" marL="457200" rtl="0" algn="l">
              <a:spcBef>
                <a:spcPts val="0"/>
              </a:spcBef>
              <a:spcAft>
                <a:spcPts val="0"/>
              </a:spcAft>
              <a:buSzPts val="2000"/>
              <a:buAutoNum type="arabicPeriod"/>
            </a:pPr>
            <a:r>
              <a:rPr lang="en-US"/>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4"/>
          <p:cNvSpPr txBox="1"/>
          <p:nvPr>
            <p:ph idx="10" type="dt"/>
          </p:nvPr>
        </p:nvSpPr>
        <p:spPr>
          <a:xfrm>
            <a:off x="337710" y="4795896"/>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12-03-2022</a:t>
            </a:r>
            <a:endParaRPr/>
          </a:p>
        </p:txBody>
      </p:sp>
      <p:sp>
        <p:nvSpPr>
          <p:cNvPr id="126" name="Google Shape;126;p14"/>
          <p:cNvSpPr txBox="1"/>
          <p:nvPr>
            <p:ph idx="11" type="ftr"/>
          </p:nvPr>
        </p:nvSpPr>
        <p:spPr>
          <a:xfrm>
            <a:off x="1417832" y="4803025"/>
            <a:ext cx="7114609" cy="310781"/>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127" name="Google Shape;127;p14"/>
          <p:cNvSpPr txBox="1"/>
          <p:nvPr>
            <p:ph idx="12" type="sldNum"/>
          </p:nvPr>
        </p:nvSpPr>
        <p:spPr>
          <a:xfrm>
            <a:off x="8532441" y="4803763"/>
            <a:ext cx="586052" cy="309305"/>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28" name="Google Shape;128;p14"/>
          <p:cNvSpPr txBox="1"/>
          <p:nvPr>
            <p:ph idx="1" type="body"/>
          </p:nvPr>
        </p:nvSpPr>
        <p:spPr>
          <a:xfrm>
            <a:off x="542925" y="1594125"/>
            <a:ext cx="8141100" cy="2360400"/>
          </a:xfrm>
          <a:prstGeom prst="rect">
            <a:avLst/>
          </a:prstGeom>
          <a:noFill/>
          <a:ln>
            <a:noFill/>
          </a:ln>
        </p:spPr>
        <p:txBody>
          <a:bodyPr anchorCtr="0" anchor="t" bIns="45700" lIns="91425" spcFirstLastPara="1" rIns="91425" wrap="square" tIns="45700">
            <a:noAutofit/>
          </a:bodyPr>
          <a:lstStyle/>
          <a:p>
            <a:pPr indent="-320675" lvl="0" marL="457200" rtl="0" algn="just">
              <a:spcBef>
                <a:spcPts val="0"/>
              </a:spcBef>
              <a:spcAft>
                <a:spcPts val="0"/>
              </a:spcAft>
              <a:buSzPts val="1450"/>
              <a:buFont typeface="Roboto"/>
              <a:buChar char="•"/>
            </a:pPr>
            <a:r>
              <a:rPr lang="en-US" sz="1450">
                <a:highlight>
                  <a:schemeClr val="lt1"/>
                </a:highlight>
                <a:latin typeface="Roboto"/>
                <a:ea typeface="Roboto"/>
                <a:cs typeface="Roboto"/>
                <a:sym typeface="Roboto"/>
              </a:rPr>
              <a:t>The necessity of higher efficiency in colorectal cancer histopathological (CRCH) analysis from the tissue images along with the extraction of underlying features from those images has paved the way for deep learning based methods in the literature.</a:t>
            </a:r>
            <a:endParaRPr sz="1450">
              <a:highlight>
                <a:schemeClr val="lt1"/>
              </a:highlight>
              <a:latin typeface="Roboto"/>
              <a:ea typeface="Roboto"/>
              <a:cs typeface="Roboto"/>
              <a:sym typeface="Roboto"/>
            </a:endParaRPr>
          </a:p>
          <a:p>
            <a:pPr indent="-320675" lvl="0" marL="457200" rtl="0" algn="just">
              <a:spcBef>
                <a:spcPts val="0"/>
              </a:spcBef>
              <a:spcAft>
                <a:spcPts val="0"/>
              </a:spcAft>
              <a:buSzPts val="1450"/>
              <a:buFont typeface="Roboto"/>
              <a:buChar char="•"/>
            </a:pPr>
            <a:r>
              <a:rPr lang="en-US" sz="1450">
                <a:highlight>
                  <a:schemeClr val="lt1"/>
                </a:highlight>
                <a:latin typeface="Roboto"/>
                <a:ea typeface="Roboto"/>
                <a:cs typeface="Roboto"/>
                <a:sym typeface="Roboto"/>
              </a:rPr>
              <a:t>Medical imaging-based histopathological analysis has been approached classically using traditional machine learning and handcrafted feature extraction, which, however, fail to capture complex underlying patterns within the image data.</a:t>
            </a:r>
            <a:endParaRPr sz="1450">
              <a:highlight>
                <a:schemeClr val="lt1"/>
              </a:highlight>
              <a:latin typeface="Roboto"/>
              <a:ea typeface="Roboto"/>
              <a:cs typeface="Roboto"/>
              <a:sym typeface="Roboto"/>
            </a:endParaRPr>
          </a:p>
          <a:p>
            <a:pPr indent="-320675" lvl="0" marL="457200" rtl="0" algn="just">
              <a:spcBef>
                <a:spcPts val="0"/>
              </a:spcBef>
              <a:spcAft>
                <a:spcPts val="0"/>
              </a:spcAft>
              <a:buSzPts val="1450"/>
              <a:buFont typeface="Roboto"/>
              <a:buChar char="•"/>
            </a:pPr>
            <a:r>
              <a:rPr lang="en-US" sz="1450">
                <a:highlight>
                  <a:srgbClr val="FFFFFF"/>
                </a:highlight>
                <a:latin typeface="Roboto"/>
                <a:ea typeface="Roboto"/>
                <a:cs typeface="Roboto"/>
                <a:sym typeface="Roboto"/>
              </a:rPr>
              <a:t>Deep learning methods, particularly CNNs, have gained popularity due to their capability in recognising salient and translationally invariant image features for robust classification and investigation.</a:t>
            </a:r>
            <a:endParaRPr sz="1450">
              <a:highlight>
                <a:srgbClr val="FFFFFF"/>
              </a:highlight>
              <a:latin typeface="Roboto"/>
              <a:ea typeface="Roboto"/>
              <a:cs typeface="Roboto"/>
              <a:sym typeface="Roboto"/>
            </a:endParaRPr>
          </a:p>
          <a:p>
            <a:pPr indent="0" lvl="0" marL="457200" rtl="0" algn="just">
              <a:spcBef>
                <a:spcPts val="0"/>
              </a:spcBef>
              <a:spcAft>
                <a:spcPts val="0"/>
              </a:spcAft>
              <a:buNone/>
            </a:pPr>
            <a:r>
              <a:t/>
            </a:r>
            <a:endParaRPr sz="1450">
              <a:highlight>
                <a:srgbClr val="FFFFFF"/>
              </a:highlight>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5"/>
          <p:cNvSpPr txBox="1"/>
          <p:nvPr>
            <p:ph idx="10" type="dt"/>
          </p:nvPr>
        </p:nvSpPr>
        <p:spPr>
          <a:xfrm>
            <a:off x="337710" y="480322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12-03-2022</a:t>
            </a:r>
            <a:endParaRPr/>
          </a:p>
        </p:txBody>
      </p:sp>
      <p:sp>
        <p:nvSpPr>
          <p:cNvPr id="134" name="Google Shape;134;p15"/>
          <p:cNvSpPr txBox="1"/>
          <p:nvPr>
            <p:ph idx="11" type="ftr"/>
          </p:nvPr>
        </p:nvSpPr>
        <p:spPr>
          <a:xfrm>
            <a:off x="1417830" y="480322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135" name="Google Shape;135;p15"/>
          <p:cNvSpPr txBox="1"/>
          <p:nvPr>
            <p:ph idx="12" type="sldNum"/>
          </p:nvPr>
        </p:nvSpPr>
        <p:spPr>
          <a:xfrm>
            <a:off x="8532441" y="479979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36" name="Google Shape;136;p15"/>
          <p:cNvSpPr txBox="1"/>
          <p:nvPr/>
        </p:nvSpPr>
        <p:spPr>
          <a:xfrm>
            <a:off x="707050" y="1508900"/>
            <a:ext cx="8127600" cy="275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highlight>
                  <a:schemeClr val="lt1"/>
                </a:highlight>
              </a:rPr>
              <a:t>Colorectal Cancer Histopathology:</a:t>
            </a:r>
            <a:endParaRPr sz="1700">
              <a:solidFill>
                <a:schemeClr val="dk1"/>
              </a:solidFill>
              <a:highlight>
                <a:schemeClr val="lt1"/>
              </a:highlight>
            </a:endParaRPr>
          </a:p>
          <a:p>
            <a:pPr indent="-323850" lvl="0" marL="914400" rtl="0" algn="l">
              <a:spcBef>
                <a:spcPts val="0"/>
              </a:spcBef>
              <a:spcAft>
                <a:spcPts val="0"/>
              </a:spcAft>
              <a:buSzPts val="1500"/>
              <a:buChar char="●"/>
            </a:pPr>
            <a:r>
              <a:rPr lang="en-US" sz="1500">
                <a:solidFill>
                  <a:schemeClr val="dk1"/>
                </a:solidFill>
                <a:highlight>
                  <a:schemeClr val="lt1"/>
                </a:highlight>
              </a:rPr>
              <a:t>Kather</a:t>
            </a:r>
            <a:r>
              <a:rPr lang="en-US" sz="1500">
                <a:solidFill>
                  <a:schemeClr val="dk1"/>
                </a:solidFill>
                <a:highlight>
                  <a:schemeClr val="lt1"/>
                </a:highlight>
              </a:rPr>
              <a:t> </a:t>
            </a:r>
            <a:r>
              <a:rPr lang="en-US" sz="1500">
                <a:solidFill>
                  <a:schemeClr val="dk1"/>
                </a:solidFill>
                <a:highlight>
                  <a:schemeClr val="lt1"/>
                </a:highlight>
              </a:rPr>
              <a:t>et al. [1] proposed the first m</a:t>
            </a:r>
            <a:r>
              <a:rPr lang="en-US" sz="1500">
                <a:solidFill>
                  <a:schemeClr val="dk1"/>
                </a:solidFill>
                <a:highlight>
                  <a:schemeClr val="lt1"/>
                </a:highlight>
              </a:rPr>
              <a:t>ulti-</a:t>
            </a:r>
            <a:r>
              <a:rPr lang="en-US" sz="1500">
                <a:solidFill>
                  <a:schemeClr val="dk1"/>
                </a:solidFill>
                <a:highlight>
                  <a:schemeClr val="lt1"/>
                </a:highlight>
              </a:rPr>
              <a:t>class texture analysis in colorectal tissue classification.</a:t>
            </a:r>
            <a:endParaRPr sz="1500">
              <a:solidFill>
                <a:srgbClr val="444444"/>
              </a:solidFill>
              <a:highlight>
                <a:schemeClr val="lt1"/>
              </a:highlight>
            </a:endParaRPr>
          </a:p>
          <a:p>
            <a:pPr indent="-323850" lvl="0" marL="914400" rtl="0" algn="l">
              <a:spcBef>
                <a:spcPts val="0"/>
              </a:spcBef>
              <a:spcAft>
                <a:spcPts val="0"/>
              </a:spcAft>
              <a:buSzPts val="1500"/>
              <a:buChar char="●"/>
            </a:pPr>
            <a:r>
              <a:rPr lang="en-US" sz="1500">
                <a:solidFill>
                  <a:schemeClr val="dk1"/>
                </a:solidFill>
                <a:highlight>
                  <a:schemeClr val="lt1"/>
                </a:highlight>
              </a:rPr>
              <a:t>Wang et al. [2]</a:t>
            </a:r>
            <a:r>
              <a:rPr lang="en-US" sz="1500">
                <a:solidFill>
                  <a:schemeClr val="dk1"/>
                </a:solidFill>
                <a:highlight>
                  <a:schemeClr val="lt1"/>
                </a:highlight>
              </a:rPr>
              <a:t> proposed deep learning based h</a:t>
            </a:r>
            <a:r>
              <a:rPr lang="en-US" sz="1500">
                <a:solidFill>
                  <a:schemeClr val="dk1"/>
                </a:solidFill>
                <a:highlight>
                  <a:schemeClr val="lt1"/>
                </a:highlight>
              </a:rPr>
              <a:t>istopathological image classification with bilinear convolutional neural networks.</a:t>
            </a:r>
            <a:endParaRPr sz="1500">
              <a:solidFill>
                <a:schemeClr val="dk1"/>
              </a:solidFill>
              <a:highlight>
                <a:schemeClr val="lt1"/>
              </a:highlight>
            </a:endParaRPr>
          </a:p>
          <a:p>
            <a:pPr indent="-323850" lvl="0" marL="914400" rtl="0" algn="l">
              <a:spcBef>
                <a:spcPts val="0"/>
              </a:spcBef>
              <a:spcAft>
                <a:spcPts val="0"/>
              </a:spcAft>
              <a:buSzPts val="1500"/>
              <a:buChar char="●"/>
            </a:pPr>
            <a:r>
              <a:rPr lang="en-US" sz="1500">
                <a:solidFill>
                  <a:schemeClr val="dk1"/>
                </a:solidFill>
                <a:highlight>
                  <a:schemeClr val="lt1"/>
                </a:highlight>
              </a:rPr>
              <a:t>Ciompi et al. [3] highlighted the importance of stain normalization in colorectal tissue classification with convolutional networks.</a:t>
            </a:r>
            <a:endParaRPr sz="1500">
              <a:solidFill>
                <a:schemeClr val="dk1"/>
              </a:solidFill>
              <a:highlight>
                <a:schemeClr val="lt1"/>
              </a:highlight>
            </a:endParaRPr>
          </a:p>
          <a:p>
            <a:pPr indent="-323850" lvl="0" marL="914400" rtl="0" algn="l">
              <a:spcBef>
                <a:spcPts val="0"/>
              </a:spcBef>
              <a:spcAft>
                <a:spcPts val="0"/>
              </a:spcAft>
              <a:buSzPts val="1500"/>
              <a:buChar char="●"/>
            </a:pPr>
            <a:r>
              <a:rPr lang="en-US" sz="1500">
                <a:solidFill>
                  <a:schemeClr val="dk1"/>
                </a:solidFill>
                <a:highlight>
                  <a:schemeClr val="lt1"/>
                </a:highlight>
              </a:rPr>
              <a:t>Sabol et al. [4] proposed a method which had enhanced classifier performance using a fine-tuned CNN model for multi-class classification task.</a:t>
            </a:r>
            <a:endParaRPr sz="1500">
              <a:solidFill>
                <a:schemeClr val="dk1"/>
              </a:solidFill>
              <a:highlight>
                <a:schemeClr val="lt1"/>
              </a:highlight>
            </a:endParaRPr>
          </a:p>
          <a:p>
            <a:pPr indent="-323850" lvl="0" marL="914400" rtl="0" algn="l">
              <a:spcBef>
                <a:spcPts val="0"/>
              </a:spcBef>
              <a:spcAft>
                <a:spcPts val="0"/>
              </a:spcAft>
              <a:buClr>
                <a:schemeClr val="dk1"/>
              </a:buClr>
              <a:buSzPts val="1500"/>
              <a:buChar char="●"/>
            </a:pPr>
            <a:r>
              <a:rPr lang="en-US" sz="1500">
                <a:solidFill>
                  <a:schemeClr val="dk1"/>
                </a:solidFill>
                <a:highlight>
                  <a:schemeClr val="lt1"/>
                </a:highlight>
              </a:rPr>
              <a:t>Other deep learning based works include transfer learning by Ohata et al. [5] and ensemble learning strategy by Ghosh et al. [6].</a:t>
            </a:r>
            <a:endParaRPr sz="1500">
              <a:solidFill>
                <a:schemeClr val="dk1"/>
              </a:solidFill>
              <a:highlight>
                <a:schemeClr val="lt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6"/>
          <p:cNvSpPr txBox="1"/>
          <p:nvPr>
            <p:ph idx="10" type="dt"/>
          </p:nvPr>
        </p:nvSpPr>
        <p:spPr>
          <a:xfrm>
            <a:off x="337710" y="4803222"/>
            <a:ext cx="10800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a:t>
            </a:r>
            <a:r>
              <a:rPr lang="en-US"/>
              <a:t>-03-2022</a:t>
            </a:r>
            <a:endParaRPr/>
          </a:p>
        </p:txBody>
      </p:sp>
      <p:sp>
        <p:nvSpPr>
          <p:cNvPr id="142" name="Google Shape;142;p16"/>
          <p:cNvSpPr txBox="1"/>
          <p:nvPr>
            <p:ph idx="11" type="ftr"/>
          </p:nvPr>
        </p:nvSpPr>
        <p:spPr>
          <a:xfrm>
            <a:off x="1417830" y="4803222"/>
            <a:ext cx="71145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143" name="Google Shape;143;p16"/>
          <p:cNvSpPr txBox="1"/>
          <p:nvPr>
            <p:ph idx="12" type="sldNum"/>
          </p:nvPr>
        </p:nvSpPr>
        <p:spPr>
          <a:xfrm>
            <a:off x="8532441" y="4799793"/>
            <a:ext cx="586200" cy="3318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44" name="Google Shape;144;p16"/>
          <p:cNvSpPr txBox="1"/>
          <p:nvPr/>
        </p:nvSpPr>
        <p:spPr>
          <a:xfrm>
            <a:off x="623450" y="1325250"/>
            <a:ext cx="8271900" cy="33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chemeClr val="dk1"/>
                </a:solidFill>
                <a:highlight>
                  <a:schemeClr val="lt1"/>
                </a:highlight>
              </a:rPr>
              <a:t>Deep Metric Learning:</a:t>
            </a:r>
            <a:endParaRPr sz="1700">
              <a:solidFill>
                <a:schemeClr val="dk1"/>
              </a:solidFill>
              <a:highlight>
                <a:schemeClr val="lt1"/>
              </a:highlight>
            </a:endParaRPr>
          </a:p>
          <a:p>
            <a:pPr indent="-336550" lvl="0" marL="914400" rtl="0" algn="l">
              <a:spcBef>
                <a:spcPts val="0"/>
              </a:spcBef>
              <a:spcAft>
                <a:spcPts val="0"/>
              </a:spcAft>
              <a:buClr>
                <a:schemeClr val="dk1"/>
              </a:buClr>
              <a:buSzPts val="1700"/>
              <a:buChar char="●"/>
            </a:pPr>
            <a:r>
              <a:rPr lang="en-US" sz="1700">
                <a:solidFill>
                  <a:schemeClr val="dk1"/>
                </a:solidFill>
                <a:highlight>
                  <a:schemeClr val="lt1"/>
                </a:highlight>
              </a:rPr>
              <a:t>Based on (dis)similarity learning </a:t>
            </a:r>
            <a:r>
              <a:rPr lang="en-US" sz="1700">
                <a:solidFill>
                  <a:schemeClr val="dk1"/>
                </a:solidFill>
                <a:highlight>
                  <a:schemeClr val="lt1"/>
                </a:highlight>
              </a:rPr>
              <a:t>between samples and has been used for representation learning in several domains such as offline signature verification (Bromley et al. [7]), medical imaging (Annarumma et al. [8]) and face recognition (Liu et al. [9]; Schroff et al. [10]), to name a few. </a:t>
            </a:r>
            <a:endParaRPr sz="1700">
              <a:solidFill>
                <a:schemeClr val="dk1"/>
              </a:solidFill>
              <a:highlight>
                <a:schemeClr val="lt1"/>
              </a:highlight>
            </a:endParaRPr>
          </a:p>
          <a:p>
            <a:pPr indent="0" lvl="0" marL="0" rtl="0" algn="l">
              <a:spcBef>
                <a:spcPts val="0"/>
              </a:spcBef>
              <a:spcAft>
                <a:spcPts val="0"/>
              </a:spcAft>
              <a:buNone/>
            </a:pPr>
            <a:r>
              <a:t/>
            </a:r>
            <a:endParaRPr sz="1700">
              <a:solidFill>
                <a:schemeClr val="dk1"/>
              </a:solidFill>
              <a:highlight>
                <a:schemeClr val="lt1"/>
              </a:highlight>
            </a:endParaRPr>
          </a:p>
          <a:p>
            <a:pPr indent="0" lvl="0" marL="0" rtl="0" algn="l">
              <a:spcBef>
                <a:spcPts val="0"/>
              </a:spcBef>
              <a:spcAft>
                <a:spcPts val="0"/>
              </a:spcAft>
              <a:buNone/>
            </a:pPr>
            <a:r>
              <a:rPr lang="en-US" sz="1700">
                <a:solidFill>
                  <a:schemeClr val="dk1"/>
                </a:solidFill>
                <a:highlight>
                  <a:schemeClr val="lt1"/>
                </a:highlight>
              </a:rPr>
              <a:t>Self-Supervised Learning:</a:t>
            </a:r>
            <a:endParaRPr sz="1700">
              <a:solidFill>
                <a:schemeClr val="dk1"/>
              </a:solidFill>
              <a:highlight>
                <a:schemeClr val="lt1"/>
              </a:highlight>
            </a:endParaRPr>
          </a:p>
          <a:p>
            <a:pPr indent="-336550" lvl="0" marL="914400" rtl="0" algn="l">
              <a:spcBef>
                <a:spcPts val="0"/>
              </a:spcBef>
              <a:spcAft>
                <a:spcPts val="0"/>
              </a:spcAft>
              <a:buClr>
                <a:schemeClr val="dk1"/>
              </a:buClr>
              <a:buSzPts val="1700"/>
              <a:buChar char="●"/>
            </a:pPr>
            <a:r>
              <a:rPr lang="en-US" sz="1700">
                <a:solidFill>
                  <a:schemeClr val="dk1"/>
                </a:solidFill>
                <a:highlight>
                  <a:schemeClr val="lt1"/>
                </a:highlight>
              </a:rPr>
              <a:t>SSL has gained tremendous popularity due to its capability to learn robust representations from unlabelled data. Primary directions of study include contrastive learning (Chen et al. [11]), generative/reconstruction based models (Atito et al. [12]; Deepak et al. [13]) and clustering approaches (Alwassel et al. [14]). </a:t>
            </a:r>
            <a:endParaRPr sz="1700">
              <a:solidFill>
                <a:schemeClr val="dk1"/>
              </a:solidFill>
              <a:highlight>
                <a:schemeClr val="lt1"/>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idx="10" type="dt"/>
          </p:nvPr>
        </p:nvSpPr>
        <p:spPr>
          <a:xfrm>
            <a:off x="337710" y="480322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12-03-2022</a:t>
            </a:r>
            <a:endParaRPr/>
          </a:p>
        </p:txBody>
      </p:sp>
      <p:sp>
        <p:nvSpPr>
          <p:cNvPr id="150" name="Google Shape;150;p17"/>
          <p:cNvSpPr txBox="1"/>
          <p:nvPr>
            <p:ph idx="11" type="ftr"/>
          </p:nvPr>
        </p:nvSpPr>
        <p:spPr>
          <a:xfrm>
            <a:off x="1417831" y="480322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151" name="Google Shape;151;p17"/>
          <p:cNvSpPr txBox="1"/>
          <p:nvPr>
            <p:ph idx="12" type="sldNum"/>
          </p:nvPr>
        </p:nvSpPr>
        <p:spPr>
          <a:xfrm>
            <a:off x="8532441" y="479979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52" name="Google Shape;152;p17"/>
          <p:cNvSpPr txBox="1"/>
          <p:nvPr>
            <p:ph idx="1" type="body"/>
          </p:nvPr>
        </p:nvSpPr>
        <p:spPr>
          <a:xfrm>
            <a:off x="683568" y="1485556"/>
            <a:ext cx="7992900" cy="3188700"/>
          </a:xfrm>
          <a:prstGeom prst="rect">
            <a:avLst/>
          </a:prstGeom>
          <a:noFill/>
          <a:ln>
            <a:noFill/>
          </a:ln>
        </p:spPr>
        <p:txBody>
          <a:bodyPr anchorCtr="0" anchor="t" bIns="45700" lIns="91425" spcFirstLastPara="1" rIns="91425" wrap="square" tIns="45700">
            <a:noAutofit/>
          </a:bodyPr>
          <a:lstStyle/>
          <a:p>
            <a:pPr indent="-320675" lvl="0" marL="457200" rtl="0" algn="l">
              <a:spcBef>
                <a:spcPts val="0"/>
              </a:spcBef>
              <a:spcAft>
                <a:spcPts val="0"/>
              </a:spcAft>
              <a:buSzPts val="1450"/>
              <a:buFont typeface="Arial"/>
              <a:buChar char="•"/>
            </a:pPr>
            <a:r>
              <a:rPr lang="en-US" sz="1450">
                <a:highlight>
                  <a:schemeClr val="lt1"/>
                </a:highlight>
                <a:latin typeface="Arial"/>
                <a:ea typeface="Arial"/>
                <a:cs typeface="Arial"/>
                <a:sym typeface="Arial"/>
              </a:rPr>
              <a:t>As of 2020, CRC is one of the leading causes of cancer related deaths in the world, accounting for around 11% of the cancer patients worldwide. </a:t>
            </a:r>
            <a:endParaRPr sz="1450">
              <a:highlight>
                <a:schemeClr val="lt1"/>
              </a:highlight>
              <a:latin typeface="Arial"/>
              <a:ea typeface="Arial"/>
              <a:cs typeface="Arial"/>
              <a:sym typeface="Arial"/>
            </a:endParaRPr>
          </a:p>
          <a:p>
            <a:pPr indent="-320675" lvl="0" marL="457200" rtl="0" algn="l">
              <a:spcBef>
                <a:spcPts val="0"/>
              </a:spcBef>
              <a:spcAft>
                <a:spcPts val="0"/>
              </a:spcAft>
              <a:buSzPts val="1450"/>
              <a:buFont typeface="Arial"/>
              <a:buChar char="•"/>
            </a:pPr>
            <a:r>
              <a:rPr lang="en-US" sz="1450">
                <a:highlight>
                  <a:schemeClr val="lt1"/>
                </a:highlight>
                <a:latin typeface="Arial"/>
                <a:ea typeface="Arial"/>
                <a:cs typeface="Arial"/>
                <a:sym typeface="Arial"/>
              </a:rPr>
              <a:t>The early detection of CRC can increase the survival rates by around 90% which explains the need for its early detection.</a:t>
            </a:r>
            <a:endParaRPr sz="1450">
              <a:highlight>
                <a:schemeClr val="lt1"/>
              </a:highlight>
              <a:latin typeface="Arial"/>
              <a:ea typeface="Arial"/>
              <a:cs typeface="Arial"/>
              <a:sym typeface="Arial"/>
            </a:endParaRPr>
          </a:p>
          <a:p>
            <a:pPr indent="-320675" lvl="0" marL="457200" rtl="0" algn="l">
              <a:spcBef>
                <a:spcPts val="0"/>
              </a:spcBef>
              <a:spcAft>
                <a:spcPts val="0"/>
              </a:spcAft>
              <a:buSzPts val="1450"/>
              <a:buFont typeface="Arial"/>
              <a:buChar char="•"/>
            </a:pPr>
            <a:r>
              <a:rPr lang="en-US" sz="1450">
                <a:highlight>
                  <a:schemeClr val="lt1"/>
                </a:highlight>
                <a:latin typeface="Roboto"/>
                <a:ea typeface="Roboto"/>
                <a:cs typeface="Roboto"/>
                <a:sym typeface="Roboto"/>
              </a:rPr>
              <a:t>An early detection and diagnosis is of paramount importance, which is however, limited due to insufficient medical practitioners available for large-scale histopathological screening. </a:t>
            </a:r>
            <a:endParaRPr sz="1450">
              <a:highlight>
                <a:schemeClr val="lt1"/>
              </a:highlight>
              <a:latin typeface="Roboto"/>
              <a:ea typeface="Roboto"/>
              <a:cs typeface="Roboto"/>
              <a:sym typeface="Roboto"/>
            </a:endParaRPr>
          </a:p>
          <a:p>
            <a:pPr indent="-320675" lvl="0" marL="457200" rtl="0" algn="l">
              <a:spcBef>
                <a:spcPts val="0"/>
              </a:spcBef>
              <a:spcAft>
                <a:spcPts val="0"/>
              </a:spcAft>
              <a:buSzPts val="1450"/>
              <a:buFont typeface="Arial"/>
              <a:buChar char="•"/>
            </a:pPr>
            <a:r>
              <a:rPr lang="en-US" sz="1450">
                <a:highlight>
                  <a:schemeClr val="lt1"/>
                </a:highlight>
                <a:latin typeface="Roboto"/>
                <a:ea typeface="Roboto"/>
                <a:cs typeface="Roboto"/>
                <a:sym typeface="Roboto"/>
              </a:rPr>
              <a:t>This demands for a reliable computer-aided framework that can automatically analyse histopathological slide images and assist pathologists in quick decision-making.</a:t>
            </a:r>
            <a:endParaRPr sz="1450">
              <a:highlight>
                <a:schemeClr val="lt1"/>
              </a:highlight>
              <a:latin typeface="Roboto"/>
              <a:ea typeface="Roboto"/>
              <a:cs typeface="Roboto"/>
              <a:sym typeface="Roboto"/>
            </a:endParaRPr>
          </a:p>
          <a:p>
            <a:pPr indent="-314325" lvl="0" marL="457200" rtl="0" algn="l">
              <a:spcBef>
                <a:spcPts val="0"/>
              </a:spcBef>
              <a:spcAft>
                <a:spcPts val="0"/>
              </a:spcAft>
              <a:buSzPts val="1350"/>
              <a:buFont typeface="Roboto"/>
              <a:buChar char="•"/>
            </a:pPr>
            <a:r>
              <a:rPr lang="en-US" sz="1450">
                <a:highlight>
                  <a:srgbClr val="FFFFFF"/>
                </a:highlight>
                <a:latin typeface="Roboto"/>
                <a:ea typeface="Roboto"/>
                <a:cs typeface="Roboto"/>
                <a:sym typeface="Roboto"/>
              </a:rPr>
              <a:t>To this end, we propose a novel deep learning framework that combines supervised learning with self-supervision for robust learning of histopathological features from colorectal tissue images.</a:t>
            </a:r>
            <a:r>
              <a:rPr lang="en-US" sz="1350">
                <a:highlight>
                  <a:srgbClr val="FFFFFF"/>
                </a:highlight>
                <a:latin typeface="Roboto"/>
                <a:ea typeface="Roboto"/>
                <a:cs typeface="Roboto"/>
                <a:sym typeface="Roboto"/>
              </a:rPr>
              <a:t> </a:t>
            </a:r>
            <a:endParaRPr sz="1350">
              <a:highlight>
                <a:srgbClr val="FFFFFF"/>
              </a:highlight>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8"/>
          <p:cNvSpPr txBox="1"/>
          <p:nvPr>
            <p:ph idx="10" type="dt"/>
          </p:nvPr>
        </p:nvSpPr>
        <p:spPr>
          <a:xfrm>
            <a:off x="337710" y="4803222"/>
            <a:ext cx="10800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a:t>
            </a:r>
            <a:r>
              <a:rPr lang="en-US"/>
              <a:t>-03-2022</a:t>
            </a:r>
            <a:endParaRPr/>
          </a:p>
        </p:txBody>
      </p:sp>
      <p:sp>
        <p:nvSpPr>
          <p:cNvPr id="158" name="Google Shape;158;p18"/>
          <p:cNvSpPr txBox="1"/>
          <p:nvPr>
            <p:ph idx="11" type="ftr"/>
          </p:nvPr>
        </p:nvSpPr>
        <p:spPr>
          <a:xfrm>
            <a:off x="1417831" y="4803222"/>
            <a:ext cx="71145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159" name="Google Shape;159;p18"/>
          <p:cNvSpPr txBox="1"/>
          <p:nvPr>
            <p:ph idx="12" type="sldNum"/>
          </p:nvPr>
        </p:nvSpPr>
        <p:spPr>
          <a:xfrm>
            <a:off x="8532441" y="4799793"/>
            <a:ext cx="586200" cy="3318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60" name="Google Shape;160;p18"/>
          <p:cNvSpPr txBox="1"/>
          <p:nvPr>
            <p:ph idx="1" type="body"/>
          </p:nvPr>
        </p:nvSpPr>
        <p:spPr>
          <a:xfrm>
            <a:off x="337700" y="1103425"/>
            <a:ext cx="4602300" cy="2923200"/>
          </a:xfrm>
          <a:prstGeom prst="rect">
            <a:avLst/>
          </a:prstGeom>
          <a:noFill/>
          <a:ln>
            <a:noFill/>
          </a:ln>
        </p:spPr>
        <p:txBody>
          <a:bodyPr anchorCtr="0" anchor="t" bIns="45700" lIns="91425" spcFirstLastPara="1" rIns="91425" wrap="square" tIns="45700">
            <a:noAutofit/>
          </a:bodyPr>
          <a:lstStyle/>
          <a:p>
            <a:pPr indent="-314325" lvl="0" marL="457200" rtl="0" algn="just">
              <a:spcBef>
                <a:spcPts val="0"/>
              </a:spcBef>
              <a:spcAft>
                <a:spcPts val="0"/>
              </a:spcAft>
              <a:buSzPts val="1350"/>
              <a:buChar char="•"/>
            </a:pPr>
            <a:r>
              <a:rPr lang="en-US" sz="1350">
                <a:highlight>
                  <a:srgbClr val="FFFFFF"/>
                </a:highlight>
                <a:latin typeface="Arial"/>
                <a:ea typeface="Arial"/>
                <a:cs typeface="Arial"/>
                <a:sym typeface="Arial"/>
              </a:rPr>
              <a:t>We intend to combine supervised learning with self-supervision as a pre-training paradigm for robust CRCH image analysis</a:t>
            </a:r>
            <a:r>
              <a:rPr lang="en-US" sz="1350">
                <a:highlight>
                  <a:srgbClr val="FFFFFF"/>
                </a:highlight>
                <a:latin typeface="Roboto"/>
                <a:ea typeface="Roboto"/>
                <a:cs typeface="Roboto"/>
                <a:sym typeface="Roboto"/>
              </a:rPr>
              <a:t>.</a:t>
            </a:r>
            <a:endParaRPr sz="1350">
              <a:latin typeface="Arial"/>
              <a:ea typeface="Arial"/>
              <a:cs typeface="Arial"/>
              <a:sym typeface="Arial"/>
            </a:endParaRPr>
          </a:p>
          <a:p>
            <a:pPr indent="-314325" lvl="0" marL="457200" rtl="0" algn="just">
              <a:spcBef>
                <a:spcPts val="0"/>
              </a:spcBef>
              <a:spcAft>
                <a:spcPts val="0"/>
              </a:spcAft>
              <a:buSzPts val="1350"/>
              <a:buFont typeface="Arial"/>
              <a:buChar char="•"/>
            </a:pPr>
            <a:r>
              <a:rPr lang="en-US" sz="1350">
                <a:latin typeface="Arial"/>
                <a:ea typeface="Arial"/>
                <a:cs typeface="Arial"/>
                <a:sym typeface="Arial"/>
              </a:rPr>
              <a:t>We use the  metric learning framework to learn maximisation of intra-class similarities while distinguishing samples from a different class.</a:t>
            </a:r>
            <a:endParaRPr sz="1350">
              <a:latin typeface="Arial"/>
              <a:ea typeface="Arial"/>
              <a:cs typeface="Arial"/>
              <a:sym typeface="Arial"/>
            </a:endParaRPr>
          </a:p>
          <a:p>
            <a:pPr indent="-314325" lvl="0" marL="457200" rtl="0" algn="just">
              <a:spcBef>
                <a:spcPts val="0"/>
              </a:spcBef>
              <a:spcAft>
                <a:spcPts val="0"/>
              </a:spcAft>
              <a:buSzPts val="1350"/>
              <a:buFont typeface="Arial"/>
              <a:buChar char="•"/>
            </a:pPr>
            <a:r>
              <a:rPr lang="en-US" sz="1350">
                <a:latin typeface="Arial"/>
                <a:ea typeface="Arial"/>
                <a:cs typeface="Arial"/>
                <a:sym typeface="Arial"/>
              </a:rPr>
              <a:t>Specifically, metric learning is used to minimise the distance metric between intra-class or “positive” pairs and maximise the distance between inter-class or “negative” pairs.</a:t>
            </a:r>
            <a:endParaRPr sz="1350">
              <a:latin typeface="Arial"/>
              <a:ea typeface="Arial"/>
              <a:cs typeface="Arial"/>
              <a:sym typeface="Arial"/>
            </a:endParaRPr>
          </a:p>
          <a:p>
            <a:pPr indent="-314325" lvl="0" marL="457200" rtl="0" algn="just">
              <a:spcBef>
                <a:spcPts val="0"/>
              </a:spcBef>
              <a:spcAft>
                <a:spcPts val="0"/>
              </a:spcAft>
              <a:buSzPts val="1350"/>
              <a:buFont typeface="Arial"/>
              <a:buChar char="•"/>
            </a:pPr>
            <a:r>
              <a:rPr lang="en-US" sz="1350">
                <a:latin typeface="Arial"/>
                <a:ea typeface="Arial"/>
                <a:cs typeface="Arial"/>
                <a:sym typeface="Arial"/>
              </a:rPr>
              <a:t>The primary purpose is to learn discriminative embedding space, where samples from same class shall be closer while the ones from different classes shall be farther apart.</a:t>
            </a:r>
            <a:endParaRPr sz="1350">
              <a:latin typeface="Arial"/>
              <a:ea typeface="Arial"/>
              <a:cs typeface="Arial"/>
              <a:sym typeface="Arial"/>
            </a:endParaRPr>
          </a:p>
          <a:p>
            <a:pPr indent="0" lvl="0" marL="0" rtl="0" algn="just">
              <a:spcBef>
                <a:spcPts val="0"/>
              </a:spcBef>
              <a:spcAft>
                <a:spcPts val="0"/>
              </a:spcAft>
              <a:buNone/>
            </a:pPr>
            <a:r>
              <a:t/>
            </a:r>
            <a:endParaRPr>
              <a:latin typeface="Arial"/>
              <a:ea typeface="Arial"/>
              <a:cs typeface="Arial"/>
              <a:sym typeface="Arial"/>
            </a:endParaRPr>
          </a:p>
        </p:txBody>
      </p:sp>
      <p:pic>
        <p:nvPicPr>
          <p:cNvPr id="161" name="Google Shape;161;p18"/>
          <p:cNvPicPr preferRelativeResize="0"/>
          <p:nvPr/>
        </p:nvPicPr>
        <p:blipFill>
          <a:blip r:embed="rId3">
            <a:alphaModFix/>
          </a:blip>
          <a:stretch>
            <a:fillRect/>
          </a:stretch>
        </p:blipFill>
        <p:spPr>
          <a:xfrm>
            <a:off x="4940050" y="1048525"/>
            <a:ext cx="4048076" cy="3640051"/>
          </a:xfrm>
          <a:prstGeom prst="rect">
            <a:avLst/>
          </a:prstGeom>
          <a:noFill/>
          <a:ln>
            <a:noFill/>
          </a:ln>
        </p:spPr>
      </p:pic>
      <p:pic>
        <p:nvPicPr>
          <p:cNvPr id="162" name="Google Shape;162;p18"/>
          <p:cNvPicPr preferRelativeResize="0"/>
          <p:nvPr/>
        </p:nvPicPr>
        <p:blipFill rotWithShape="1">
          <a:blip r:embed="rId4">
            <a:alphaModFix/>
          </a:blip>
          <a:srcRect b="46731" l="3316" r="5584" t="35714"/>
          <a:stretch/>
        </p:blipFill>
        <p:spPr>
          <a:xfrm>
            <a:off x="467600" y="4137425"/>
            <a:ext cx="4649923" cy="4778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9"/>
          <p:cNvSpPr txBox="1"/>
          <p:nvPr>
            <p:ph idx="10" type="dt"/>
          </p:nvPr>
        </p:nvSpPr>
        <p:spPr>
          <a:xfrm>
            <a:off x="337710" y="4803222"/>
            <a:ext cx="10800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a:t>
            </a:r>
            <a:r>
              <a:rPr lang="en-US"/>
              <a:t>-03-2022</a:t>
            </a:r>
            <a:endParaRPr/>
          </a:p>
        </p:txBody>
      </p:sp>
      <p:sp>
        <p:nvSpPr>
          <p:cNvPr id="168" name="Google Shape;168;p19"/>
          <p:cNvSpPr txBox="1"/>
          <p:nvPr>
            <p:ph idx="11" type="ftr"/>
          </p:nvPr>
        </p:nvSpPr>
        <p:spPr>
          <a:xfrm>
            <a:off x="1417831" y="4803222"/>
            <a:ext cx="71145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169" name="Google Shape;169;p19"/>
          <p:cNvSpPr txBox="1"/>
          <p:nvPr>
            <p:ph idx="12" type="sldNum"/>
          </p:nvPr>
        </p:nvSpPr>
        <p:spPr>
          <a:xfrm>
            <a:off x="8532441" y="4799793"/>
            <a:ext cx="586200" cy="3318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70" name="Google Shape;170;p19"/>
          <p:cNvSpPr txBox="1"/>
          <p:nvPr>
            <p:ph idx="1" type="body"/>
          </p:nvPr>
        </p:nvSpPr>
        <p:spPr>
          <a:xfrm>
            <a:off x="406975" y="1154825"/>
            <a:ext cx="4589400" cy="2359800"/>
          </a:xfrm>
          <a:prstGeom prst="rect">
            <a:avLst/>
          </a:prstGeom>
          <a:noFill/>
          <a:ln>
            <a:noFill/>
          </a:ln>
        </p:spPr>
        <p:txBody>
          <a:bodyPr anchorCtr="0" anchor="t" bIns="45700" lIns="91425" spcFirstLastPara="1" rIns="91425" wrap="square" tIns="45700">
            <a:noAutofit/>
          </a:bodyPr>
          <a:lstStyle/>
          <a:p>
            <a:pPr indent="-304800" lvl="0" marL="457200" rtl="0" algn="just">
              <a:spcBef>
                <a:spcPts val="0"/>
              </a:spcBef>
              <a:spcAft>
                <a:spcPts val="0"/>
              </a:spcAft>
              <a:buSzPts val="1200"/>
              <a:buChar char="•"/>
            </a:pPr>
            <a:r>
              <a:rPr lang="en-US" sz="1200">
                <a:latin typeface="Arial"/>
                <a:ea typeface="Arial"/>
                <a:cs typeface="Arial"/>
                <a:sym typeface="Arial"/>
              </a:rPr>
              <a:t>Further, we have introduced a self-supervised image reconstruction </a:t>
            </a:r>
            <a:r>
              <a:rPr lang="en-US" sz="1200">
                <a:latin typeface="Arial"/>
                <a:ea typeface="Arial"/>
                <a:cs typeface="Arial"/>
                <a:sym typeface="Arial"/>
              </a:rPr>
              <a:t>module </a:t>
            </a:r>
            <a:r>
              <a:rPr lang="en-US" sz="1200">
                <a:latin typeface="Arial"/>
                <a:ea typeface="Arial"/>
                <a:cs typeface="Arial"/>
                <a:sym typeface="Arial"/>
              </a:rPr>
              <a:t>to enhance the learning of image-level texture features.</a:t>
            </a:r>
            <a:endParaRPr sz="1200">
              <a:latin typeface="Arial"/>
              <a:ea typeface="Arial"/>
              <a:cs typeface="Arial"/>
              <a:sym typeface="Arial"/>
            </a:endParaRPr>
          </a:p>
          <a:p>
            <a:pPr indent="-304800" lvl="0" marL="457200" rtl="0" algn="just">
              <a:spcBef>
                <a:spcPts val="0"/>
              </a:spcBef>
              <a:spcAft>
                <a:spcPts val="0"/>
              </a:spcAft>
              <a:buSzPts val="1200"/>
              <a:buFont typeface="Arial"/>
              <a:buChar char="•"/>
            </a:pPr>
            <a:r>
              <a:rPr lang="en-US" sz="1200">
                <a:latin typeface="Arial"/>
                <a:ea typeface="Arial"/>
                <a:cs typeface="Arial"/>
                <a:sym typeface="Arial"/>
              </a:rPr>
              <a:t>For reconstruction, we have used the state-of-the-art U-Net decoder module (Ronneberger et al. [15]) excluding the skip connections, starting from an embedding vector into a series of unsampling layers which yield the output image dimensions.</a:t>
            </a:r>
            <a:endParaRPr sz="1200">
              <a:latin typeface="Arial"/>
              <a:ea typeface="Arial"/>
              <a:cs typeface="Arial"/>
              <a:sym typeface="Arial"/>
            </a:endParaRPr>
          </a:p>
          <a:p>
            <a:pPr indent="-304800" lvl="0" marL="457200" rtl="0" algn="just">
              <a:spcBef>
                <a:spcPts val="0"/>
              </a:spcBef>
              <a:spcAft>
                <a:spcPts val="0"/>
              </a:spcAft>
              <a:buSzPts val="1200"/>
              <a:buChar char="•"/>
            </a:pPr>
            <a:r>
              <a:rPr lang="en-US" sz="1200">
                <a:latin typeface="Arial"/>
                <a:ea typeface="Arial"/>
                <a:cs typeface="Arial"/>
                <a:sym typeface="Arial"/>
              </a:rPr>
              <a:t>We form a corrupted version of the ‘anchor’ image by random spatial transformations such as blurring or dropping pixels, which is then used to generate the reconstruction.</a:t>
            </a:r>
            <a:endParaRPr sz="1200">
              <a:latin typeface="Arial"/>
              <a:ea typeface="Arial"/>
              <a:cs typeface="Arial"/>
              <a:sym typeface="Arial"/>
            </a:endParaRPr>
          </a:p>
          <a:p>
            <a:pPr indent="-304800" lvl="0" marL="457200" rtl="0" algn="just">
              <a:spcBef>
                <a:spcPts val="0"/>
              </a:spcBef>
              <a:spcAft>
                <a:spcPts val="0"/>
              </a:spcAft>
              <a:buSzPts val="1200"/>
              <a:buChar char="•"/>
            </a:pPr>
            <a:r>
              <a:rPr lang="en-US" sz="1200">
                <a:latin typeface="Arial"/>
                <a:ea typeface="Arial"/>
                <a:cs typeface="Arial"/>
                <a:sym typeface="Arial"/>
              </a:rPr>
              <a:t>We have used mean squared error(MSE) as the reconstruction loss, employed between the output and original anchor image to train this branch.</a:t>
            </a:r>
            <a:endParaRPr sz="1200">
              <a:highlight>
                <a:srgbClr val="FFFFFF"/>
              </a:highlight>
              <a:latin typeface="Roboto"/>
              <a:ea typeface="Roboto"/>
              <a:cs typeface="Roboto"/>
              <a:sym typeface="Roboto"/>
            </a:endParaRPr>
          </a:p>
          <a:p>
            <a:pPr indent="0" lvl="0" marL="457200" rtl="0" algn="just">
              <a:spcBef>
                <a:spcPts val="0"/>
              </a:spcBef>
              <a:spcAft>
                <a:spcPts val="0"/>
              </a:spcAft>
              <a:buNone/>
            </a:pPr>
            <a:r>
              <a:t/>
            </a:r>
            <a:endParaRPr sz="1200">
              <a:latin typeface="Arial"/>
              <a:ea typeface="Arial"/>
              <a:cs typeface="Arial"/>
              <a:sym typeface="Arial"/>
            </a:endParaRPr>
          </a:p>
        </p:txBody>
      </p:sp>
      <p:pic>
        <p:nvPicPr>
          <p:cNvPr id="171" name="Google Shape;171;p19"/>
          <p:cNvPicPr preferRelativeResize="0"/>
          <p:nvPr/>
        </p:nvPicPr>
        <p:blipFill>
          <a:blip r:embed="rId3">
            <a:alphaModFix/>
          </a:blip>
          <a:stretch>
            <a:fillRect/>
          </a:stretch>
        </p:blipFill>
        <p:spPr>
          <a:xfrm>
            <a:off x="4951150" y="1037725"/>
            <a:ext cx="4062976" cy="3653473"/>
          </a:xfrm>
          <a:prstGeom prst="rect">
            <a:avLst/>
          </a:prstGeom>
          <a:noFill/>
          <a:ln>
            <a:noFill/>
          </a:ln>
        </p:spPr>
      </p:pic>
      <p:pic>
        <p:nvPicPr>
          <p:cNvPr id="172" name="Google Shape;172;p19"/>
          <p:cNvPicPr preferRelativeResize="0"/>
          <p:nvPr/>
        </p:nvPicPr>
        <p:blipFill rotWithShape="1">
          <a:blip r:embed="rId4">
            <a:alphaModFix/>
          </a:blip>
          <a:srcRect b="45751" l="15528" r="9850" t="29462"/>
          <a:stretch/>
        </p:blipFill>
        <p:spPr>
          <a:xfrm>
            <a:off x="765725" y="3985875"/>
            <a:ext cx="4124827" cy="7053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txBox="1"/>
          <p:nvPr>
            <p:ph idx="10" type="dt"/>
          </p:nvPr>
        </p:nvSpPr>
        <p:spPr>
          <a:xfrm>
            <a:off x="337710" y="4803222"/>
            <a:ext cx="10800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a:t>
            </a:r>
            <a:r>
              <a:rPr lang="en-US"/>
              <a:t>-03-2022</a:t>
            </a:r>
            <a:endParaRPr/>
          </a:p>
        </p:txBody>
      </p:sp>
      <p:sp>
        <p:nvSpPr>
          <p:cNvPr id="178" name="Google Shape;178;p20"/>
          <p:cNvSpPr txBox="1"/>
          <p:nvPr>
            <p:ph idx="11" type="ftr"/>
          </p:nvPr>
        </p:nvSpPr>
        <p:spPr>
          <a:xfrm>
            <a:off x="1417831" y="4803222"/>
            <a:ext cx="71145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179" name="Google Shape;179;p20"/>
          <p:cNvSpPr txBox="1"/>
          <p:nvPr>
            <p:ph idx="12" type="sldNum"/>
          </p:nvPr>
        </p:nvSpPr>
        <p:spPr>
          <a:xfrm>
            <a:off x="8532441" y="4799793"/>
            <a:ext cx="586200" cy="3318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80" name="Google Shape;180;p20"/>
          <p:cNvSpPr txBox="1"/>
          <p:nvPr>
            <p:ph idx="1" type="body"/>
          </p:nvPr>
        </p:nvSpPr>
        <p:spPr>
          <a:xfrm>
            <a:off x="398325" y="2933600"/>
            <a:ext cx="4450800" cy="1136100"/>
          </a:xfrm>
          <a:prstGeom prst="rect">
            <a:avLst/>
          </a:prstGeom>
          <a:noFill/>
          <a:ln>
            <a:noFill/>
          </a:ln>
        </p:spPr>
        <p:txBody>
          <a:bodyPr anchorCtr="0" anchor="t" bIns="45700" lIns="91425" spcFirstLastPara="1" rIns="91425" wrap="square" tIns="45700">
            <a:noAutofit/>
          </a:bodyPr>
          <a:lstStyle/>
          <a:p>
            <a:pPr indent="0" lvl="0" marL="457200" rtl="0" algn="just">
              <a:spcBef>
                <a:spcPts val="0"/>
              </a:spcBef>
              <a:spcAft>
                <a:spcPts val="0"/>
              </a:spcAft>
              <a:buNone/>
            </a:pPr>
            <a:r>
              <a:t/>
            </a:r>
            <a:endParaRPr sz="1350">
              <a:latin typeface="Arial"/>
              <a:ea typeface="Arial"/>
              <a:cs typeface="Arial"/>
              <a:sym typeface="Arial"/>
            </a:endParaRPr>
          </a:p>
          <a:p>
            <a:pPr indent="-333375" lvl="0" marL="457200" rtl="0" algn="just">
              <a:spcBef>
                <a:spcPts val="0"/>
              </a:spcBef>
              <a:spcAft>
                <a:spcPts val="0"/>
              </a:spcAft>
              <a:buSzPts val="1650"/>
              <a:buChar char="•"/>
            </a:pPr>
            <a:r>
              <a:rPr lang="en-US" sz="1350">
                <a:highlight>
                  <a:schemeClr val="lt1"/>
                </a:highlight>
                <a:latin typeface="Roboto"/>
                <a:ea typeface="Roboto"/>
                <a:cs typeface="Roboto"/>
                <a:sym typeface="Roboto"/>
              </a:rPr>
              <a:t>Once the network is trained, the frozen encoder is used to extract image features, which are used to train a SVM classifier for the final classification.</a:t>
            </a:r>
            <a:endParaRPr sz="1350">
              <a:latin typeface="Arial"/>
              <a:ea typeface="Arial"/>
              <a:cs typeface="Arial"/>
              <a:sym typeface="Arial"/>
            </a:endParaRPr>
          </a:p>
        </p:txBody>
      </p:sp>
      <p:pic>
        <p:nvPicPr>
          <p:cNvPr id="181" name="Google Shape;181;p20"/>
          <p:cNvPicPr preferRelativeResize="0"/>
          <p:nvPr/>
        </p:nvPicPr>
        <p:blipFill>
          <a:blip r:embed="rId3">
            <a:alphaModFix/>
          </a:blip>
          <a:stretch>
            <a:fillRect/>
          </a:stretch>
        </p:blipFill>
        <p:spPr>
          <a:xfrm>
            <a:off x="4969450" y="1091450"/>
            <a:ext cx="4080273" cy="3669023"/>
          </a:xfrm>
          <a:prstGeom prst="rect">
            <a:avLst/>
          </a:prstGeom>
          <a:noFill/>
          <a:ln>
            <a:noFill/>
          </a:ln>
        </p:spPr>
      </p:pic>
      <p:sp>
        <p:nvSpPr>
          <p:cNvPr id="182" name="Google Shape;182;p20"/>
          <p:cNvSpPr txBox="1"/>
          <p:nvPr/>
        </p:nvSpPr>
        <p:spPr>
          <a:xfrm>
            <a:off x="446050" y="1210075"/>
            <a:ext cx="454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Roboto"/>
                <a:ea typeface="Roboto"/>
                <a:cs typeface="Roboto"/>
                <a:sym typeface="Roboto"/>
              </a:rPr>
              <a:t>Combining the </a:t>
            </a:r>
            <a:r>
              <a:rPr lang="en-US">
                <a:latin typeface="Roboto"/>
                <a:ea typeface="Roboto"/>
                <a:cs typeface="Roboto"/>
                <a:sym typeface="Roboto"/>
              </a:rPr>
              <a:t>two losses</a:t>
            </a:r>
            <a:r>
              <a:rPr lang="en-US">
                <a:latin typeface="Roboto"/>
                <a:ea typeface="Roboto"/>
                <a:cs typeface="Roboto"/>
                <a:sym typeface="Roboto"/>
              </a:rPr>
              <a:t>, we define our training </a:t>
            </a:r>
            <a:r>
              <a:rPr lang="en-US">
                <a:latin typeface="Roboto"/>
                <a:ea typeface="Roboto"/>
                <a:cs typeface="Roboto"/>
                <a:sym typeface="Roboto"/>
              </a:rPr>
              <a:t>objective</a:t>
            </a:r>
            <a:r>
              <a:rPr lang="en-US">
                <a:latin typeface="Roboto"/>
                <a:ea typeface="Roboto"/>
                <a:cs typeface="Roboto"/>
                <a:sym typeface="Roboto"/>
              </a:rPr>
              <a:t> as:</a:t>
            </a:r>
            <a:endParaRPr>
              <a:latin typeface="Roboto"/>
              <a:ea typeface="Roboto"/>
              <a:cs typeface="Roboto"/>
              <a:sym typeface="Roboto"/>
            </a:endParaRPr>
          </a:p>
        </p:txBody>
      </p:sp>
      <p:pic>
        <p:nvPicPr>
          <p:cNvPr id="183" name="Google Shape;183;p20"/>
          <p:cNvPicPr preferRelativeResize="0"/>
          <p:nvPr/>
        </p:nvPicPr>
        <p:blipFill rotWithShape="1">
          <a:blip r:embed="rId4">
            <a:alphaModFix/>
          </a:blip>
          <a:srcRect b="24322" l="1061" r="2431" t="60988"/>
          <a:stretch/>
        </p:blipFill>
        <p:spPr>
          <a:xfrm>
            <a:off x="464350" y="1877625"/>
            <a:ext cx="4505098" cy="400199"/>
          </a:xfrm>
          <a:prstGeom prst="rect">
            <a:avLst/>
          </a:prstGeom>
          <a:noFill/>
          <a:ln>
            <a:noFill/>
          </a:ln>
        </p:spPr>
      </p:pic>
      <p:sp>
        <p:nvSpPr>
          <p:cNvPr id="184" name="Google Shape;184;p20"/>
          <p:cNvSpPr txBox="1"/>
          <p:nvPr/>
        </p:nvSpPr>
        <p:spPr>
          <a:xfrm>
            <a:off x="727350" y="2463313"/>
            <a:ext cx="498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is a hyperparameter to balance the losses.</a:t>
            </a:r>
            <a:endParaRPr/>
          </a:p>
        </p:txBody>
      </p:sp>
      <p:pic>
        <p:nvPicPr>
          <p:cNvPr id="185" name="Google Shape;185;p20"/>
          <p:cNvPicPr preferRelativeResize="0"/>
          <p:nvPr/>
        </p:nvPicPr>
        <p:blipFill rotWithShape="1">
          <a:blip r:embed="rId4">
            <a:alphaModFix/>
          </a:blip>
          <a:srcRect b="24321" l="25689" r="69302" t="60988"/>
          <a:stretch/>
        </p:blipFill>
        <p:spPr>
          <a:xfrm>
            <a:off x="606025" y="2506750"/>
            <a:ext cx="196949" cy="331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txBox="1"/>
          <p:nvPr>
            <p:ph idx="10" type="dt"/>
          </p:nvPr>
        </p:nvSpPr>
        <p:spPr>
          <a:xfrm>
            <a:off x="337710" y="4803222"/>
            <a:ext cx="10800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a:t>
            </a:r>
            <a:r>
              <a:rPr lang="en-US"/>
              <a:t>-03-2022</a:t>
            </a:r>
            <a:endParaRPr/>
          </a:p>
        </p:txBody>
      </p:sp>
      <p:sp>
        <p:nvSpPr>
          <p:cNvPr id="191" name="Google Shape;191;p21"/>
          <p:cNvSpPr txBox="1"/>
          <p:nvPr>
            <p:ph idx="11" type="ftr"/>
          </p:nvPr>
        </p:nvSpPr>
        <p:spPr>
          <a:xfrm>
            <a:off x="1417831" y="4803222"/>
            <a:ext cx="71145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192" name="Google Shape;192;p21"/>
          <p:cNvSpPr txBox="1"/>
          <p:nvPr>
            <p:ph idx="12" type="sldNum"/>
          </p:nvPr>
        </p:nvSpPr>
        <p:spPr>
          <a:xfrm>
            <a:off x="8532441" y="4799793"/>
            <a:ext cx="586200" cy="3318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93" name="Google Shape;193;p21"/>
          <p:cNvSpPr txBox="1"/>
          <p:nvPr>
            <p:ph idx="1" type="body"/>
          </p:nvPr>
        </p:nvSpPr>
        <p:spPr>
          <a:xfrm>
            <a:off x="683575" y="1296175"/>
            <a:ext cx="7992900" cy="341370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None/>
            </a:pPr>
            <a:r>
              <a:t/>
            </a:r>
            <a:endParaRPr sz="1350">
              <a:highlight>
                <a:schemeClr val="lt1"/>
              </a:highlight>
              <a:latin typeface="Arial"/>
              <a:ea typeface="Arial"/>
              <a:cs typeface="Arial"/>
              <a:sym typeface="Arial"/>
            </a:endParaRPr>
          </a:p>
          <a:p>
            <a:pPr indent="0" lvl="0" marL="457200" rtl="0" algn="l">
              <a:spcBef>
                <a:spcPts val="0"/>
              </a:spcBef>
              <a:spcAft>
                <a:spcPts val="0"/>
              </a:spcAft>
              <a:buNone/>
            </a:pPr>
            <a:r>
              <a:t/>
            </a:r>
            <a:endParaRPr sz="1350">
              <a:highlight>
                <a:schemeClr val="lt1"/>
              </a:highlight>
              <a:latin typeface="Arial"/>
              <a:ea typeface="Arial"/>
              <a:cs typeface="Arial"/>
              <a:sym typeface="Arial"/>
            </a:endParaRPr>
          </a:p>
          <a:p>
            <a:pPr indent="0" lvl="0" marL="914400" rtl="0" algn="l">
              <a:spcBef>
                <a:spcPts val="0"/>
              </a:spcBef>
              <a:spcAft>
                <a:spcPts val="0"/>
              </a:spcAft>
              <a:buNone/>
            </a:pPr>
            <a:r>
              <a:t/>
            </a:r>
            <a:endParaRPr sz="1350">
              <a:highlight>
                <a:schemeClr val="lt1"/>
              </a:highlight>
              <a:latin typeface="Arial"/>
              <a:ea typeface="Arial"/>
              <a:cs typeface="Arial"/>
              <a:sym typeface="Arial"/>
            </a:endParaRPr>
          </a:p>
        </p:txBody>
      </p:sp>
      <p:sp>
        <p:nvSpPr>
          <p:cNvPr id="194" name="Google Shape;194;p21"/>
          <p:cNvSpPr txBox="1"/>
          <p:nvPr/>
        </p:nvSpPr>
        <p:spPr>
          <a:xfrm>
            <a:off x="827900" y="1312300"/>
            <a:ext cx="7583100" cy="7851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US" sz="1300"/>
              <a:t>The following figures illustrates the </a:t>
            </a:r>
            <a:r>
              <a:rPr lang="en-US" sz="1300">
                <a:solidFill>
                  <a:schemeClr val="dk1"/>
                </a:solidFill>
                <a:highlight>
                  <a:schemeClr val="lt1"/>
                </a:highlight>
              </a:rPr>
              <a:t>t-distributed stochastic neighbourhood embedding (t-SNE) plots at different intervals during the training process which highlight the discriminatory learning of the embedding space obtained from the pre-training paradigm.</a:t>
            </a:r>
            <a:endParaRPr sz="1300">
              <a:highlight>
                <a:schemeClr val="lt1"/>
              </a:highlight>
            </a:endParaRPr>
          </a:p>
        </p:txBody>
      </p:sp>
      <p:pic>
        <p:nvPicPr>
          <p:cNvPr id="195" name="Google Shape;195;p21"/>
          <p:cNvPicPr preferRelativeResize="0"/>
          <p:nvPr/>
        </p:nvPicPr>
        <p:blipFill>
          <a:blip r:embed="rId3">
            <a:alphaModFix/>
          </a:blip>
          <a:stretch>
            <a:fillRect/>
          </a:stretch>
        </p:blipFill>
        <p:spPr>
          <a:xfrm>
            <a:off x="744150" y="2227999"/>
            <a:ext cx="1496000" cy="1683581"/>
          </a:xfrm>
          <a:prstGeom prst="rect">
            <a:avLst/>
          </a:prstGeom>
          <a:noFill/>
          <a:ln>
            <a:noFill/>
          </a:ln>
        </p:spPr>
      </p:pic>
      <p:pic>
        <p:nvPicPr>
          <p:cNvPr id="196" name="Google Shape;196;p21"/>
          <p:cNvPicPr preferRelativeResize="0"/>
          <p:nvPr/>
        </p:nvPicPr>
        <p:blipFill>
          <a:blip r:embed="rId4">
            <a:alphaModFix/>
          </a:blip>
          <a:stretch>
            <a:fillRect/>
          </a:stretch>
        </p:blipFill>
        <p:spPr>
          <a:xfrm>
            <a:off x="2240150" y="2250150"/>
            <a:ext cx="1535300" cy="1623875"/>
          </a:xfrm>
          <a:prstGeom prst="rect">
            <a:avLst/>
          </a:prstGeom>
          <a:noFill/>
          <a:ln>
            <a:noFill/>
          </a:ln>
        </p:spPr>
      </p:pic>
      <p:pic>
        <p:nvPicPr>
          <p:cNvPr id="197" name="Google Shape;197;p21"/>
          <p:cNvPicPr preferRelativeResize="0"/>
          <p:nvPr/>
        </p:nvPicPr>
        <p:blipFill>
          <a:blip r:embed="rId5">
            <a:alphaModFix/>
          </a:blip>
          <a:stretch>
            <a:fillRect/>
          </a:stretch>
        </p:blipFill>
        <p:spPr>
          <a:xfrm>
            <a:off x="3733350" y="2269550"/>
            <a:ext cx="1553975" cy="1600475"/>
          </a:xfrm>
          <a:prstGeom prst="rect">
            <a:avLst/>
          </a:prstGeom>
          <a:noFill/>
          <a:ln>
            <a:noFill/>
          </a:ln>
        </p:spPr>
      </p:pic>
      <p:pic>
        <p:nvPicPr>
          <p:cNvPr id="198" name="Google Shape;198;p21"/>
          <p:cNvPicPr preferRelativeResize="0"/>
          <p:nvPr/>
        </p:nvPicPr>
        <p:blipFill>
          <a:blip r:embed="rId6">
            <a:alphaModFix/>
          </a:blip>
          <a:stretch>
            <a:fillRect/>
          </a:stretch>
        </p:blipFill>
        <p:spPr>
          <a:xfrm>
            <a:off x="5245800" y="2235762"/>
            <a:ext cx="1601950" cy="1652650"/>
          </a:xfrm>
          <a:prstGeom prst="rect">
            <a:avLst/>
          </a:prstGeom>
          <a:noFill/>
          <a:ln>
            <a:noFill/>
          </a:ln>
        </p:spPr>
      </p:pic>
      <p:pic>
        <p:nvPicPr>
          <p:cNvPr id="199" name="Google Shape;199;p21"/>
          <p:cNvPicPr preferRelativeResize="0"/>
          <p:nvPr/>
        </p:nvPicPr>
        <p:blipFill>
          <a:blip r:embed="rId7">
            <a:alphaModFix/>
          </a:blip>
          <a:stretch>
            <a:fillRect/>
          </a:stretch>
        </p:blipFill>
        <p:spPr>
          <a:xfrm>
            <a:off x="6879525" y="2235750"/>
            <a:ext cx="1625900" cy="1638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2"/>
          <p:cNvSpPr txBox="1"/>
          <p:nvPr>
            <p:ph idx="10" type="dt"/>
          </p:nvPr>
        </p:nvSpPr>
        <p:spPr>
          <a:xfrm>
            <a:off x="337710" y="4803222"/>
            <a:ext cx="10800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a:t>
            </a:r>
            <a:r>
              <a:rPr lang="en-US"/>
              <a:t>-03-2022</a:t>
            </a:r>
            <a:endParaRPr/>
          </a:p>
        </p:txBody>
      </p:sp>
      <p:sp>
        <p:nvSpPr>
          <p:cNvPr id="205" name="Google Shape;205;p22"/>
          <p:cNvSpPr txBox="1"/>
          <p:nvPr>
            <p:ph idx="11" type="ftr"/>
          </p:nvPr>
        </p:nvSpPr>
        <p:spPr>
          <a:xfrm>
            <a:off x="1417831" y="4803222"/>
            <a:ext cx="71145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206" name="Google Shape;206;p22"/>
          <p:cNvSpPr txBox="1"/>
          <p:nvPr>
            <p:ph idx="12" type="sldNum"/>
          </p:nvPr>
        </p:nvSpPr>
        <p:spPr>
          <a:xfrm>
            <a:off x="8532441" y="4799793"/>
            <a:ext cx="586200" cy="3318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07" name="Google Shape;207;p22"/>
          <p:cNvSpPr txBox="1"/>
          <p:nvPr>
            <p:ph idx="1" type="body"/>
          </p:nvPr>
        </p:nvSpPr>
        <p:spPr>
          <a:xfrm>
            <a:off x="683575" y="1296175"/>
            <a:ext cx="7992900" cy="341370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None/>
            </a:pPr>
            <a:r>
              <a:t/>
            </a:r>
            <a:endParaRPr sz="1350">
              <a:highlight>
                <a:schemeClr val="lt1"/>
              </a:highlight>
              <a:latin typeface="Arial"/>
              <a:ea typeface="Arial"/>
              <a:cs typeface="Arial"/>
              <a:sym typeface="Arial"/>
            </a:endParaRPr>
          </a:p>
          <a:p>
            <a:pPr indent="0" lvl="0" marL="457200" rtl="0" algn="l">
              <a:spcBef>
                <a:spcPts val="0"/>
              </a:spcBef>
              <a:spcAft>
                <a:spcPts val="0"/>
              </a:spcAft>
              <a:buNone/>
            </a:pPr>
            <a:r>
              <a:t/>
            </a:r>
            <a:endParaRPr sz="1350">
              <a:highlight>
                <a:schemeClr val="lt1"/>
              </a:highlight>
              <a:latin typeface="Arial"/>
              <a:ea typeface="Arial"/>
              <a:cs typeface="Arial"/>
              <a:sym typeface="Arial"/>
            </a:endParaRPr>
          </a:p>
          <a:p>
            <a:pPr indent="0" lvl="0" marL="914400" rtl="0" algn="l">
              <a:spcBef>
                <a:spcPts val="0"/>
              </a:spcBef>
              <a:spcAft>
                <a:spcPts val="0"/>
              </a:spcAft>
              <a:buNone/>
            </a:pPr>
            <a:r>
              <a:t/>
            </a:r>
            <a:endParaRPr sz="1350">
              <a:highlight>
                <a:schemeClr val="lt1"/>
              </a:highlight>
              <a:latin typeface="Arial"/>
              <a:ea typeface="Arial"/>
              <a:cs typeface="Arial"/>
              <a:sym typeface="Arial"/>
            </a:endParaRPr>
          </a:p>
        </p:txBody>
      </p:sp>
      <p:pic>
        <p:nvPicPr>
          <p:cNvPr id="208" name="Google Shape;208;p22"/>
          <p:cNvPicPr preferRelativeResize="0"/>
          <p:nvPr/>
        </p:nvPicPr>
        <p:blipFill>
          <a:blip r:embed="rId3">
            <a:alphaModFix/>
          </a:blip>
          <a:stretch>
            <a:fillRect/>
          </a:stretch>
        </p:blipFill>
        <p:spPr>
          <a:xfrm>
            <a:off x="2382125" y="1901900"/>
            <a:ext cx="4379750" cy="2848475"/>
          </a:xfrm>
          <a:prstGeom prst="rect">
            <a:avLst/>
          </a:prstGeom>
          <a:noFill/>
          <a:ln>
            <a:noFill/>
          </a:ln>
        </p:spPr>
      </p:pic>
      <p:sp>
        <p:nvSpPr>
          <p:cNvPr id="209" name="Google Shape;209;p22"/>
          <p:cNvSpPr txBox="1"/>
          <p:nvPr/>
        </p:nvSpPr>
        <p:spPr>
          <a:xfrm>
            <a:off x="827900" y="1312300"/>
            <a:ext cx="75831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US"/>
              <a:t>The following figure illustrates the class-wise evaluation metrics obtained from the proposed method on the CRCH dataset.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3"/>
          <p:cNvSpPr txBox="1"/>
          <p:nvPr>
            <p:ph idx="10" type="dt"/>
          </p:nvPr>
        </p:nvSpPr>
        <p:spPr>
          <a:xfrm>
            <a:off x="337710" y="4803222"/>
            <a:ext cx="10800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a:t>
            </a:r>
            <a:r>
              <a:rPr lang="en-US"/>
              <a:t>-03-2022</a:t>
            </a:r>
            <a:endParaRPr/>
          </a:p>
        </p:txBody>
      </p:sp>
      <p:sp>
        <p:nvSpPr>
          <p:cNvPr id="215" name="Google Shape;215;p23"/>
          <p:cNvSpPr txBox="1"/>
          <p:nvPr>
            <p:ph idx="11" type="ftr"/>
          </p:nvPr>
        </p:nvSpPr>
        <p:spPr>
          <a:xfrm>
            <a:off x="1417831" y="4803222"/>
            <a:ext cx="71145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216" name="Google Shape;216;p23"/>
          <p:cNvSpPr txBox="1"/>
          <p:nvPr>
            <p:ph idx="12" type="sldNum"/>
          </p:nvPr>
        </p:nvSpPr>
        <p:spPr>
          <a:xfrm>
            <a:off x="8532441" y="4799793"/>
            <a:ext cx="586200" cy="3318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17" name="Google Shape;217;p23"/>
          <p:cNvSpPr txBox="1"/>
          <p:nvPr/>
        </p:nvSpPr>
        <p:spPr>
          <a:xfrm>
            <a:off x="726050" y="1259625"/>
            <a:ext cx="7960200" cy="3924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350"/>
          </a:p>
        </p:txBody>
      </p:sp>
      <p:graphicFrame>
        <p:nvGraphicFramePr>
          <p:cNvPr id="218" name="Google Shape;218;p23"/>
          <p:cNvGraphicFramePr/>
          <p:nvPr/>
        </p:nvGraphicFramePr>
        <p:xfrm>
          <a:off x="1760375" y="1696867"/>
          <a:ext cx="3000000" cy="3000000"/>
        </p:xfrm>
        <a:graphic>
          <a:graphicData uri="http://schemas.openxmlformats.org/drawingml/2006/table">
            <a:tbl>
              <a:tblPr>
                <a:noFill/>
                <a:tableStyleId>{FA7C41D4-2DEF-4D2F-A2C8-0284207D78AE}</a:tableStyleId>
              </a:tblPr>
              <a:tblGrid>
                <a:gridCol w="1669300"/>
                <a:gridCol w="1255100"/>
                <a:gridCol w="1237350"/>
                <a:gridCol w="1031825"/>
                <a:gridCol w="1235800"/>
              </a:tblGrid>
              <a:tr h="331550">
                <a:tc>
                  <a:txBody>
                    <a:bodyPr/>
                    <a:lstStyle/>
                    <a:p>
                      <a:pPr indent="0" lvl="0" marL="0" rtl="0" algn="ctr">
                        <a:spcBef>
                          <a:spcPts val="0"/>
                        </a:spcBef>
                        <a:spcAft>
                          <a:spcPts val="0"/>
                        </a:spcAft>
                        <a:buNone/>
                      </a:pPr>
                      <a:r>
                        <a:rPr lang="en-US" sz="1200">
                          <a:latin typeface="Roboto Medium"/>
                          <a:ea typeface="Roboto Medium"/>
                          <a:cs typeface="Roboto Medium"/>
                          <a:sym typeface="Roboto Medium"/>
                        </a:rPr>
                        <a:t>Method</a:t>
                      </a:r>
                      <a:endParaRPr sz="1200">
                        <a:latin typeface="Roboto Medium"/>
                        <a:ea typeface="Roboto Medium"/>
                        <a:cs typeface="Roboto Medium"/>
                        <a:sym typeface="Roboto Medium"/>
                      </a:endParaRPr>
                    </a:p>
                  </a:txBody>
                  <a:tcPr marT="91425" marB="91425" marR="91425" marL="91425"/>
                </a:tc>
                <a:tc>
                  <a:txBody>
                    <a:bodyPr/>
                    <a:lstStyle/>
                    <a:p>
                      <a:pPr indent="0" lvl="0" marL="0" rtl="0" algn="ctr">
                        <a:spcBef>
                          <a:spcPts val="0"/>
                        </a:spcBef>
                        <a:spcAft>
                          <a:spcPts val="0"/>
                        </a:spcAft>
                        <a:buNone/>
                      </a:pPr>
                      <a:r>
                        <a:rPr lang="en-US" sz="1200">
                          <a:latin typeface="Roboto Medium"/>
                          <a:ea typeface="Roboto Medium"/>
                          <a:cs typeface="Roboto Medium"/>
                          <a:sym typeface="Roboto Medium"/>
                        </a:rPr>
                        <a:t>Accuracy(%)</a:t>
                      </a:r>
                      <a:endParaRPr sz="1200">
                        <a:latin typeface="Roboto Medium"/>
                        <a:ea typeface="Roboto Medium"/>
                        <a:cs typeface="Roboto Medium"/>
                        <a:sym typeface="Roboto Medium"/>
                      </a:endParaRPr>
                    </a:p>
                  </a:txBody>
                  <a:tcPr marT="91425" marB="91425" marR="91425" marL="91425"/>
                </a:tc>
                <a:tc>
                  <a:txBody>
                    <a:bodyPr/>
                    <a:lstStyle/>
                    <a:p>
                      <a:pPr indent="0" lvl="0" marL="0" rtl="0" algn="ctr">
                        <a:spcBef>
                          <a:spcPts val="0"/>
                        </a:spcBef>
                        <a:spcAft>
                          <a:spcPts val="0"/>
                        </a:spcAft>
                        <a:buNone/>
                      </a:pPr>
                      <a:r>
                        <a:rPr lang="en-US" sz="1200">
                          <a:latin typeface="Roboto Medium"/>
                          <a:ea typeface="Roboto Medium"/>
                          <a:cs typeface="Roboto Medium"/>
                          <a:sym typeface="Roboto Medium"/>
                        </a:rPr>
                        <a:t>Precision(%)</a:t>
                      </a:r>
                      <a:endParaRPr sz="1200">
                        <a:latin typeface="Roboto Medium"/>
                        <a:ea typeface="Roboto Medium"/>
                        <a:cs typeface="Roboto Medium"/>
                        <a:sym typeface="Roboto Medium"/>
                      </a:endParaRPr>
                    </a:p>
                  </a:txBody>
                  <a:tcPr marT="91425" marB="91425" marR="91425" marL="91425"/>
                </a:tc>
                <a:tc>
                  <a:txBody>
                    <a:bodyPr/>
                    <a:lstStyle/>
                    <a:p>
                      <a:pPr indent="0" lvl="0" marL="0" rtl="0" algn="ctr">
                        <a:spcBef>
                          <a:spcPts val="0"/>
                        </a:spcBef>
                        <a:spcAft>
                          <a:spcPts val="0"/>
                        </a:spcAft>
                        <a:buNone/>
                      </a:pPr>
                      <a:r>
                        <a:rPr lang="en-US" sz="1200">
                          <a:latin typeface="Roboto Medium"/>
                          <a:ea typeface="Roboto Medium"/>
                          <a:cs typeface="Roboto Medium"/>
                          <a:sym typeface="Roboto Medium"/>
                        </a:rPr>
                        <a:t>Recall(%)</a:t>
                      </a:r>
                      <a:endParaRPr sz="1200">
                        <a:latin typeface="Roboto Medium"/>
                        <a:ea typeface="Roboto Medium"/>
                        <a:cs typeface="Roboto Medium"/>
                        <a:sym typeface="Roboto Medium"/>
                      </a:endParaRPr>
                    </a:p>
                  </a:txBody>
                  <a:tcPr marT="91425" marB="91425" marR="91425" marL="91425"/>
                </a:tc>
                <a:tc>
                  <a:txBody>
                    <a:bodyPr/>
                    <a:lstStyle/>
                    <a:p>
                      <a:pPr indent="0" lvl="0" marL="0" rtl="0" algn="ctr">
                        <a:spcBef>
                          <a:spcPts val="0"/>
                        </a:spcBef>
                        <a:spcAft>
                          <a:spcPts val="0"/>
                        </a:spcAft>
                        <a:buNone/>
                      </a:pPr>
                      <a:r>
                        <a:rPr lang="en-US" sz="1200">
                          <a:latin typeface="Roboto Medium"/>
                          <a:ea typeface="Roboto Medium"/>
                          <a:cs typeface="Roboto Medium"/>
                          <a:sym typeface="Roboto Medium"/>
                        </a:rPr>
                        <a:t>F1-Score(%)</a:t>
                      </a:r>
                      <a:endParaRPr sz="1200">
                        <a:latin typeface="Roboto Medium"/>
                        <a:ea typeface="Roboto Medium"/>
                        <a:cs typeface="Roboto Medium"/>
                        <a:sym typeface="Roboto Medium"/>
                      </a:endParaRPr>
                    </a:p>
                  </a:txBody>
                  <a:tcPr marT="91425" marB="91425" marR="91425" marL="91425"/>
                </a:tc>
              </a:tr>
              <a:tr h="285725">
                <a:tc>
                  <a:txBody>
                    <a:bodyPr/>
                    <a:lstStyle/>
                    <a:p>
                      <a:pPr indent="0" lvl="0" marL="0" rtl="0" algn="ctr">
                        <a:spcBef>
                          <a:spcPts val="0"/>
                        </a:spcBef>
                        <a:spcAft>
                          <a:spcPts val="0"/>
                        </a:spcAft>
                        <a:buNone/>
                      </a:pPr>
                      <a:r>
                        <a:rPr lang="en-US" sz="1300"/>
                        <a:t>Ciompi et al. [3]</a:t>
                      </a:r>
                      <a:endParaRPr sz="1300"/>
                    </a:p>
                  </a:txBody>
                  <a:tcPr marT="91425" marB="91425" marR="91425" marL="91425"/>
                </a:tc>
                <a:tc>
                  <a:txBody>
                    <a:bodyPr/>
                    <a:lstStyle/>
                    <a:p>
                      <a:pPr indent="0" lvl="0" marL="0" rtl="0" algn="ctr">
                        <a:spcBef>
                          <a:spcPts val="0"/>
                        </a:spcBef>
                        <a:spcAft>
                          <a:spcPts val="0"/>
                        </a:spcAft>
                        <a:buNone/>
                      </a:pPr>
                      <a:r>
                        <a:rPr lang="en-US" sz="1300"/>
                        <a:t>79.66</a:t>
                      </a:r>
                      <a:endParaRPr sz="1300"/>
                    </a:p>
                  </a:txBody>
                  <a:tcPr marT="91425" marB="91425" marR="91425" marL="91425"/>
                </a:tc>
                <a:tc>
                  <a:txBody>
                    <a:bodyPr/>
                    <a:lstStyle/>
                    <a:p>
                      <a:pPr indent="0" lvl="0" marL="0" rtl="0" algn="ctr">
                        <a:spcBef>
                          <a:spcPts val="0"/>
                        </a:spcBef>
                        <a:spcAft>
                          <a:spcPts val="0"/>
                        </a:spcAft>
                        <a:buNone/>
                      </a:pPr>
                      <a:r>
                        <a:rPr lang="en-US" sz="1300"/>
                        <a:t>-</a:t>
                      </a:r>
                      <a:endParaRPr sz="1300"/>
                    </a:p>
                  </a:txBody>
                  <a:tcPr marT="91425" marB="91425" marR="91425" marL="91425"/>
                </a:tc>
                <a:tc>
                  <a:txBody>
                    <a:bodyPr/>
                    <a:lstStyle/>
                    <a:p>
                      <a:pPr indent="0" lvl="0" marL="0" rtl="0" algn="ctr">
                        <a:spcBef>
                          <a:spcPts val="0"/>
                        </a:spcBef>
                        <a:spcAft>
                          <a:spcPts val="0"/>
                        </a:spcAft>
                        <a:buNone/>
                      </a:pPr>
                      <a:r>
                        <a:rPr lang="en-US" sz="1300"/>
                        <a:t>-</a:t>
                      </a:r>
                      <a:endParaRPr sz="1300"/>
                    </a:p>
                  </a:txBody>
                  <a:tcPr marT="91425" marB="91425" marR="91425" marL="91425"/>
                </a:tc>
                <a:tc>
                  <a:txBody>
                    <a:bodyPr/>
                    <a:lstStyle/>
                    <a:p>
                      <a:pPr indent="0" lvl="0" marL="0" rtl="0" algn="ctr">
                        <a:spcBef>
                          <a:spcPts val="0"/>
                        </a:spcBef>
                        <a:spcAft>
                          <a:spcPts val="0"/>
                        </a:spcAft>
                        <a:buNone/>
                      </a:pPr>
                      <a:r>
                        <a:rPr lang="en-US" sz="1300"/>
                        <a:t>-</a:t>
                      </a:r>
                      <a:endParaRPr sz="1300"/>
                    </a:p>
                  </a:txBody>
                  <a:tcPr marT="91425" marB="91425" marR="91425" marL="91425"/>
                </a:tc>
              </a:tr>
              <a:tr h="345375">
                <a:tc>
                  <a:txBody>
                    <a:bodyPr/>
                    <a:lstStyle/>
                    <a:p>
                      <a:pPr indent="0" lvl="0" marL="0" rtl="0" algn="ctr">
                        <a:spcBef>
                          <a:spcPts val="0"/>
                        </a:spcBef>
                        <a:spcAft>
                          <a:spcPts val="0"/>
                        </a:spcAft>
                        <a:buNone/>
                      </a:pPr>
                      <a:r>
                        <a:rPr lang="en-US" sz="1300"/>
                        <a:t>Kather et al. [1]</a:t>
                      </a:r>
                      <a:endParaRPr sz="1300"/>
                    </a:p>
                  </a:txBody>
                  <a:tcPr marT="91425" marB="91425" marR="91425" marL="91425"/>
                </a:tc>
                <a:tc>
                  <a:txBody>
                    <a:bodyPr/>
                    <a:lstStyle/>
                    <a:p>
                      <a:pPr indent="0" lvl="0" marL="0" rtl="0" algn="ctr">
                        <a:spcBef>
                          <a:spcPts val="0"/>
                        </a:spcBef>
                        <a:spcAft>
                          <a:spcPts val="0"/>
                        </a:spcAft>
                        <a:buNone/>
                      </a:pPr>
                      <a:r>
                        <a:rPr lang="en-US" sz="1300"/>
                        <a:t>87.40</a:t>
                      </a:r>
                      <a:endParaRPr sz="1300"/>
                    </a:p>
                  </a:txBody>
                  <a:tcPr marT="91425" marB="91425" marR="91425" marL="91425"/>
                </a:tc>
                <a:tc>
                  <a:txBody>
                    <a:bodyPr/>
                    <a:lstStyle/>
                    <a:p>
                      <a:pPr indent="0" lvl="0" marL="0" rtl="0" algn="ctr">
                        <a:spcBef>
                          <a:spcPts val="0"/>
                        </a:spcBef>
                        <a:spcAft>
                          <a:spcPts val="0"/>
                        </a:spcAft>
                        <a:buNone/>
                      </a:pPr>
                      <a:r>
                        <a:rPr lang="en-US" sz="1300"/>
                        <a:t>-</a:t>
                      </a:r>
                      <a:endParaRPr sz="1300"/>
                    </a:p>
                  </a:txBody>
                  <a:tcPr marT="91425" marB="91425" marR="91425" marL="91425"/>
                </a:tc>
                <a:tc>
                  <a:txBody>
                    <a:bodyPr/>
                    <a:lstStyle/>
                    <a:p>
                      <a:pPr indent="0" lvl="0" marL="0" rtl="0" algn="ctr">
                        <a:spcBef>
                          <a:spcPts val="0"/>
                        </a:spcBef>
                        <a:spcAft>
                          <a:spcPts val="0"/>
                        </a:spcAft>
                        <a:buNone/>
                      </a:pPr>
                      <a:r>
                        <a:rPr lang="en-US" sz="1300"/>
                        <a:t>-</a:t>
                      </a:r>
                      <a:endParaRPr sz="1300"/>
                    </a:p>
                  </a:txBody>
                  <a:tcPr marT="91425" marB="91425" marR="91425" marL="91425"/>
                </a:tc>
                <a:tc>
                  <a:txBody>
                    <a:bodyPr/>
                    <a:lstStyle/>
                    <a:p>
                      <a:pPr indent="0" lvl="0" marL="0" rtl="0" algn="ctr">
                        <a:spcBef>
                          <a:spcPts val="0"/>
                        </a:spcBef>
                        <a:spcAft>
                          <a:spcPts val="0"/>
                        </a:spcAft>
                        <a:buNone/>
                      </a:pPr>
                      <a:r>
                        <a:rPr lang="en-US" sz="1300"/>
                        <a:t>-</a:t>
                      </a:r>
                      <a:endParaRPr sz="1300"/>
                    </a:p>
                  </a:txBody>
                  <a:tcPr marT="91425" marB="91425" marR="91425" marL="91425"/>
                </a:tc>
              </a:tr>
              <a:tr h="345375">
                <a:tc>
                  <a:txBody>
                    <a:bodyPr/>
                    <a:lstStyle/>
                    <a:p>
                      <a:pPr indent="0" lvl="0" marL="0" rtl="0" algn="ctr">
                        <a:spcBef>
                          <a:spcPts val="0"/>
                        </a:spcBef>
                        <a:spcAft>
                          <a:spcPts val="0"/>
                        </a:spcAft>
                        <a:buNone/>
                      </a:pPr>
                      <a:r>
                        <a:rPr lang="en-US" sz="1300"/>
                        <a:t>Ohata et al. [5]</a:t>
                      </a:r>
                      <a:endParaRPr sz="1300"/>
                    </a:p>
                  </a:txBody>
                  <a:tcPr marT="91425" marB="91425" marR="91425" marL="91425"/>
                </a:tc>
                <a:tc>
                  <a:txBody>
                    <a:bodyPr/>
                    <a:lstStyle/>
                    <a:p>
                      <a:pPr indent="0" lvl="0" marL="0" rtl="0" algn="ctr">
                        <a:spcBef>
                          <a:spcPts val="0"/>
                        </a:spcBef>
                        <a:spcAft>
                          <a:spcPts val="0"/>
                        </a:spcAft>
                        <a:buNone/>
                      </a:pPr>
                      <a:r>
                        <a:rPr lang="en-US" sz="1300"/>
                        <a:t>92.80</a:t>
                      </a:r>
                      <a:endParaRPr sz="1300"/>
                    </a:p>
                  </a:txBody>
                  <a:tcPr marT="91425" marB="91425" marR="91425" marL="91425"/>
                </a:tc>
                <a:tc>
                  <a:txBody>
                    <a:bodyPr/>
                    <a:lstStyle/>
                    <a:p>
                      <a:pPr indent="0" lvl="0" marL="0" rtl="0" algn="ctr">
                        <a:spcBef>
                          <a:spcPts val="0"/>
                        </a:spcBef>
                        <a:spcAft>
                          <a:spcPts val="0"/>
                        </a:spcAft>
                        <a:buNone/>
                      </a:pPr>
                      <a:r>
                        <a:rPr lang="en-US" sz="1300"/>
                        <a:t>-</a:t>
                      </a:r>
                      <a:endParaRPr sz="1300"/>
                    </a:p>
                  </a:txBody>
                  <a:tcPr marT="91425" marB="91425" marR="91425" marL="91425"/>
                </a:tc>
                <a:tc>
                  <a:txBody>
                    <a:bodyPr/>
                    <a:lstStyle/>
                    <a:p>
                      <a:pPr indent="0" lvl="0" marL="0" rtl="0" algn="ctr">
                        <a:spcBef>
                          <a:spcPts val="0"/>
                        </a:spcBef>
                        <a:spcAft>
                          <a:spcPts val="0"/>
                        </a:spcAft>
                        <a:buNone/>
                      </a:pPr>
                      <a:r>
                        <a:rPr lang="en-US" sz="1300"/>
                        <a:t>-</a:t>
                      </a:r>
                      <a:endParaRPr sz="1300"/>
                    </a:p>
                  </a:txBody>
                  <a:tcPr marT="91425" marB="91425" marR="91425" marL="91425"/>
                </a:tc>
                <a:tc>
                  <a:txBody>
                    <a:bodyPr/>
                    <a:lstStyle/>
                    <a:p>
                      <a:pPr indent="0" lvl="0" marL="0" rtl="0" algn="ctr">
                        <a:spcBef>
                          <a:spcPts val="0"/>
                        </a:spcBef>
                        <a:spcAft>
                          <a:spcPts val="0"/>
                        </a:spcAft>
                        <a:buNone/>
                      </a:pPr>
                      <a:r>
                        <a:rPr lang="en-US" sz="1300"/>
                        <a:t>92.12</a:t>
                      </a:r>
                      <a:endParaRPr sz="1300"/>
                    </a:p>
                  </a:txBody>
                  <a:tcPr marT="91425" marB="91425" marR="91425" marL="91425"/>
                </a:tc>
              </a:tr>
              <a:tr h="345375">
                <a:tc>
                  <a:txBody>
                    <a:bodyPr/>
                    <a:lstStyle/>
                    <a:p>
                      <a:pPr indent="0" lvl="0" marL="0" rtl="0" algn="ctr">
                        <a:spcBef>
                          <a:spcPts val="0"/>
                        </a:spcBef>
                        <a:spcAft>
                          <a:spcPts val="0"/>
                        </a:spcAft>
                        <a:buNone/>
                      </a:pPr>
                      <a:r>
                        <a:rPr lang="en-US" sz="1300"/>
                        <a:t>Wang et al. [2]</a:t>
                      </a:r>
                      <a:endParaRPr sz="1300"/>
                    </a:p>
                  </a:txBody>
                  <a:tcPr marT="91425" marB="91425" marR="91425" marL="91425"/>
                </a:tc>
                <a:tc>
                  <a:txBody>
                    <a:bodyPr/>
                    <a:lstStyle/>
                    <a:p>
                      <a:pPr indent="0" lvl="0" marL="0" rtl="0" algn="ctr">
                        <a:spcBef>
                          <a:spcPts val="0"/>
                        </a:spcBef>
                        <a:spcAft>
                          <a:spcPts val="0"/>
                        </a:spcAft>
                        <a:buNone/>
                      </a:pPr>
                      <a:r>
                        <a:rPr lang="en-US" sz="1300"/>
                        <a:t>92.60</a:t>
                      </a:r>
                      <a:endParaRPr sz="1300"/>
                    </a:p>
                  </a:txBody>
                  <a:tcPr marT="91425" marB="91425" marR="91425" marL="91425"/>
                </a:tc>
                <a:tc>
                  <a:txBody>
                    <a:bodyPr/>
                    <a:lstStyle/>
                    <a:p>
                      <a:pPr indent="0" lvl="0" marL="0" rtl="0" algn="ctr">
                        <a:spcBef>
                          <a:spcPts val="0"/>
                        </a:spcBef>
                        <a:spcAft>
                          <a:spcPts val="0"/>
                        </a:spcAft>
                        <a:buNone/>
                      </a:pPr>
                      <a:r>
                        <a:rPr lang="en-US" sz="1300"/>
                        <a:t>-</a:t>
                      </a:r>
                      <a:endParaRPr sz="1300"/>
                    </a:p>
                  </a:txBody>
                  <a:tcPr marT="91425" marB="91425" marR="91425" marL="91425"/>
                </a:tc>
                <a:tc>
                  <a:txBody>
                    <a:bodyPr/>
                    <a:lstStyle/>
                    <a:p>
                      <a:pPr indent="0" lvl="0" marL="0" rtl="0" algn="ctr">
                        <a:spcBef>
                          <a:spcPts val="0"/>
                        </a:spcBef>
                        <a:spcAft>
                          <a:spcPts val="0"/>
                        </a:spcAft>
                        <a:buNone/>
                      </a:pPr>
                      <a:r>
                        <a:rPr lang="en-US" sz="1300"/>
                        <a:t>92.80</a:t>
                      </a:r>
                      <a:endParaRPr sz="1300"/>
                    </a:p>
                  </a:txBody>
                  <a:tcPr marT="91425" marB="91425" marR="91425" marL="91425"/>
                </a:tc>
                <a:tc>
                  <a:txBody>
                    <a:bodyPr/>
                    <a:lstStyle/>
                    <a:p>
                      <a:pPr indent="0" lvl="0" marL="0" rtl="0" algn="ctr">
                        <a:spcBef>
                          <a:spcPts val="0"/>
                        </a:spcBef>
                        <a:spcAft>
                          <a:spcPts val="0"/>
                        </a:spcAft>
                        <a:buNone/>
                      </a:pPr>
                      <a:r>
                        <a:rPr lang="en-US" sz="1300"/>
                        <a:t>-</a:t>
                      </a:r>
                      <a:endParaRPr sz="1300"/>
                    </a:p>
                  </a:txBody>
                  <a:tcPr marT="91425" marB="91425" marR="91425" marL="91425"/>
                </a:tc>
              </a:tr>
              <a:tr h="345375">
                <a:tc>
                  <a:txBody>
                    <a:bodyPr/>
                    <a:lstStyle/>
                    <a:p>
                      <a:pPr indent="0" lvl="0" marL="0" rtl="0" algn="ctr">
                        <a:spcBef>
                          <a:spcPts val="0"/>
                        </a:spcBef>
                        <a:spcAft>
                          <a:spcPts val="0"/>
                        </a:spcAft>
                        <a:buNone/>
                      </a:pPr>
                      <a:r>
                        <a:rPr lang="en-US" sz="1300"/>
                        <a:t>Sabol et al. [4]</a:t>
                      </a:r>
                      <a:endParaRPr sz="1300"/>
                    </a:p>
                  </a:txBody>
                  <a:tcPr marT="91425" marB="91425" marR="91425" marL="91425"/>
                </a:tc>
                <a:tc>
                  <a:txBody>
                    <a:bodyPr/>
                    <a:lstStyle/>
                    <a:p>
                      <a:pPr indent="0" lvl="0" marL="0" rtl="0" algn="ctr">
                        <a:spcBef>
                          <a:spcPts val="0"/>
                        </a:spcBef>
                        <a:spcAft>
                          <a:spcPts val="0"/>
                        </a:spcAft>
                        <a:buNone/>
                      </a:pPr>
                      <a:r>
                        <a:rPr lang="en-US" sz="1300"/>
                        <a:t>92.74</a:t>
                      </a:r>
                      <a:endParaRPr sz="1300"/>
                    </a:p>
                  </a:txBody>
                  <a:tcPr marT="91425" marB="91425" marR="91425" marL="91425"/>
                </a:tc>
                <a:tc>
                  <a:txBody>
                    <a:bodyPr/>
                    <a:lstStyle/>
                    <a:p>
                      <a:pPr indent="0" lvl="0" marL="0" rtl="0" algn="ctr">
                        <a:spcBef>
                          <a:spcPts val="0"/>
                        </a:spcBef>
                        <a:spcAft>
                          <a:spcPts val="0"/>
                        </a:spcAft>
                        <a:buNone/>
                      </a:pPr>
                      <a:r>
                        <a:rPr lang="en-US" sz="1300"/>
                        <a:t>92.50</a:t>
                      </a:r>
                      <a:endParaRPr sz="1300"/>
                    </a:p>
                  </a:txBody>
                  <a:tcPr marT="91425" marB="91425" marR="91425" marL="91425"/>
                </a:tc>
                <a:tc>
                  <a:txBody>
                    <a:bodyPr/>
                    <a:lstStyle/>
                    <a:p>
                      <a:pPr indent="0" lvl="0" marL="0" rtl="0" algn="ctr">
                        <a:spcBef>
                          <a:spcPts val="0"/>
                        </a:spcBef>
                        <a:spcAft>
                          <a:spcPts val="0"/>
                        </a:spcAft>
                        <a:buNone/>
                      </a:pPr>
                      <a:r>
                        <a:rPr lang="en-US" sz="1300"/>
                        <a:t>92.76</a:t>
                      </a:r>
                      <a:endParaRPr sz="1300"/>
                    </a:p>
                  </a:txBody>
                  <a:tcPr marT="91425" marB="91425" marR="91425" marL="91425"/>
                </a:tc>
                <a:tc>
                  <a:txBody>
                    <a:bodyPr/>
                    <a:lstStyle/>
                    <a:p>
                      <a:pPr indent="0" lvl="0" marL="0" rtl="0" algn="ctr">
                        <a:spcBef>
                          <a:spcPts val="0"/>
                        </a:spcBef>
                        <a:spcAft>
                          <a:spcPts val="0"/>
                        </a:spcAft>
                        <a:buNone/>
                      </a:pPr>
                      <a:r>
                        <a:rPr lang="en-US" sz="1300"/>
                        <a:t>92.64</a:t>
                      </a:r>
                      <a:endParaRPr sz="1300"/>
                    </a:p>
                  </a:txBody>
                  <a:tcPr marT="91425" marB="91425" marR="91425" marL="91425"/>
                </a:tc>
              </a:tr>
              <a:tr h="345375">
                <a:tc>
                  <a:txBody>
                    <a:bodyPr/>
                    <a:lstStyle/>
                    <a:p>
                      <a:pPr indent="0" lvl="0" marL="0" rtl="0" algn="ctr">
                        <a:spcBef>
                          <a:spcPts val="0"/>
                        </a:spcBef>
                        <a:spcAft>
                          <a:spcPts val="0"/>
                        </a:spcAft>
                        <a:buNone/>
                      </a:pPr>
                      <a:r>
                        <a:rPr lang="en-US" sz="1300"/>
                        <a:t>Ghosh et al. [6]</a:t>
                      </a:r>
                      <a:endParaRPr sz="1300"/>
                    </a:p>
                  </a:txBody>
                  <a:tcPr marT="91425" marB="91425" marR="91425" marL="91425"/>
                </a:tc>
                <a:tc>
                  <a:txBody>
                    <a:bodyPr/>
                    <a:lstStyle/>
                    <a:p>
                      <a:pPr indent="0" lvl="0" marL="0" rtl="0" algn="ctr">
                        <a:spcBef>
                          <a:spcPts val="0"/>
                        </a:spcBef>
                        <a:spcAft>
                          <a:spcPts val="0"/>
                        </a:spcAft>
                        <a:buNone/>
                      </a:pPr>
                      <a:r>
                        <a:rPr lang="en-US" sz="1300"/>
                        <a:t>92.83</a:t>
                      </a:r>
                      <a:endParaRPr sz="1300"/>
                    </a:p>
                  </a:txBody>
                  <a:tcPr marT="91425" marB="91425" marR="91425" marL="91425"/>
                </a:tc>
                <a:tc>
                  <a:txBody>
                    <a:bodyPr/>
                    <a:lstStyle/>
                    <a:p>
                      <a:pPr indent="0" lvl="0" marL="0" rtl="0" algn="ctr">
                        <a:spcBef>
                          <a:spcPts val="0"/>
                        </a:spcBef>
                        <a:spcAft>
                          <a:spcPts val="0"/>
                        </a:spcAft>
                        <a:buNone/>
                      </a:pPr>
                      <a:r>
                        <a:rPr lang="en-US" sz="1300"/>
                        <a:t>92.83</a:t>
                      </a:r>
                      <a:endParaRPr sz="1300"/>
                    </a:p>
                  </a:txBody>
                  <a:tcPr marT="91425" marB="91425" marR="91425" marL="91425"/>
                </a:tc>
                <a:tc>
                  <a:txBody>
                    <a:bodyPr/>
                    <a:lstStyle/>
                    <a:p>
                      <a:pPr indent="0" lvl="0" marL="0" rtl="0" algn="ctr">
                        <a:spcBef>
                          <a:spcPts val="0"/>
                        </a:spcBef>
                        <a:spcAft>
                          <a:spcPts val="0"/>
                        </a:spcAft>
                        <a:buNone/>
                      </a:pPr>
                      <a:r>
                        <a:rPr lang="en-US" sz="1300"/>
                        <a:t>93.11</a:t>
                      </a:r>
                      <a:endParaRPr sz="1300"/>
                    </a:p>
                  </a:txBody>
                  <a:tcPr marT="91425" marB="91425" marR="91425" marL="91425"/>
                </a:tc>
                <a:tc>
                  <a:txBody>
                    <a:bodyPr/>
                    <a:lstStyle/>
                    <a:p>
                      <a:pPr indent="0" lvl="0" marL="0" rtl="0" algn="ctr">
                        <a:spcBef>
                          <a:spcPts val="0"/>
                        </a:spcBef>
                        <a:spcAft>
                          <a:spcPts val="0"/>
                        </a:spcAft>
                        <a:buNone/>
                      </a:pPr>
                      <a:r>
                        <a:rPr lang="en-US" sz="1300"/>
                        <a:t>92.97</a:t>
                      </a:r>
                      <a:endParaRPr sz="1300"/>
                    </a:p>
                  </a:txBody>
                  <a:tcPr marT="91425" marB="91425" marR="91425" marL="91425"/>
                </a:tc>
              </a:tr>
              <a:tr h="409950">
                <a:tc>
                  <a:txBody>
                    <a:bodyPr/>
                    <a:lstStyle/>
                    <a:p>
                      <a:pPr indent="0" lvl="0" marL="0" rtl="0" algn="ctr">
                        <a:spcBef>
                          <a:spcPts val="0"/>
                        </a:spcBef>
                        <a:spcAft>
                          <a:spcPts val="0"/>
                        </a:spcAft>
                        <a:buNone/>
                      </a:pPr>
                      <a:r>
                        <a:rPr b="1" lang="en-US" sz="1300"/>
                        <a:t>Proposed method</a:t>
                      </a:r>
                      <a:endParaRPr b="1" sz="1300"/>
                    </a:p>
                  </a:txBody>
                  <a:tcPr marT="91425" marB="91425" marR="91425" marL="91425"/>
                </a:tc>
                <a:tc>
                  <a:txBody>
                    <a:bodyPr/>
                    <a:lstStyle/>
                    <a:p>
                      <a:pPr indent="0" lvl="0" marL="0" rtl="0" algn="ctr">
                        <a:spcBef>
                          <a:spcPts val="0"/>
                        </a:spcBef>
                        <a:spcAft>
                          <a:spcPts val="0"/>
                        </a:spcAft>
                        <a:buNone/>
                      </a:pPr>
                      <a:r>
                        <a:rPr b="1" lang="en-US" sz="1300"/>
                        <a:t>95.22</a:t>
                      </a:r>
                      <a:endParaRPr b="1" sz="1300"/>
                    </a:p>
                  </a:txBody>
                  <a:tcPr marT="91425" marB="91425" marR="91425" marL="91425"/>
                </a:tc>
                <a:tc>
                  <a:txBody>
                    <a:bodyPr/>
                    <a:lstStyle/>
                    <a:p>
                      <a:pPr indent="0" lvl="0" marL="0" rtl="0" algn="ctr">
                        <a:spcBef>
                          <a:spcPts val="0"/>
                        </a:spcBef>
                        <a:spcAft>
                          <a:spcPts val="0"/>
                        </a:spcAft>
                        <a:buNone/>
                      </a:pPr>
                      <a:r>
                        <a:rPr b="1" lang="en-US" sz="1300"/>
                        <a:t>95.34</a:t>
                      </a:r>
                      <a:endParaRPr b="1" sz="1300"/>
                    </a:p>
                  </a:txBody>
                  <a:tcPr marT="91425" marB="91425" marR="91425" marL="91425"/>
                </a:tc>
                <a:tc>
                  <a:txBody>
                    <a:bodyPr/>
                    <a:lstStyle/>
                    <a:p>
                      <a:pPr indent="0" lvl="0" marL="0" rtl="0" algn="ctr">
                        <a:spcBef>
                          <a:spcPts val="0"/>
                        </a:spcBef>
                        <a:spcAft>
                          <a:spcPts val="0"/>
                        </a:spcAft>
                        <a:buNone/>
                      </a:pPr>
                      <a:r>
                        <a:rPr b="1" lang="en-US" sz="1300"/>
                        <a:t>95.22</a:t>
                      </a:r>
                      <a:endParaRPr b="1" sz="1300"/>
                    </a:p>
                  </a:txBody>
                  <a:tcPr marT="91425" marB="91425" marR="91425" marL="91425"/>
                </a:tc>
                <a:tc>
                  <a:txBody>
                    <a:bodyPr/>
                    <a:lstStyle/>
                    <a:p>
                      <a:pPr indent="0" lvl="0" marL="0" rtl="0" algn="ctr">
                        <a:spcBef>
                          <a:spcPts val="0"/>
                        </a:spcBef>
                        <a:spcAft>
                          <a:spcPts val="0"/>
                        </a:spcAft>
                        <a:buNone/>
                      </a:pPr>
                      <a:r>
                        <a:rPr b="1" lang="en-US" sz="1300"/>
                        <a:t>95.26</a:t>
                      </a:r>
                      <a:endParaRPr b="1" sz="1300"/>
                    </a:p>
                  </a:txBody>
                  <a:tcPr marT="91425" marB="91425" marR="91425" marL="91425"/>
                </a:tc>
              </a:tr>
            </a:tbl>
          </a:graphicData>
        </a:graphic>
      </p:graphicFrame>
      <p:sp>
        <p:nvSpPr>
          <p:cNvPr id="219" name="Google Shape;219;p23"/>
          <p:cNvSpPr txBox="1"/>
          <p:nvPr/>
        </p:nvSpPr>
        <p:spPr>
          <a:xfrm>
            <a:off x="294400" y="1112975"/>
            <a:ext cx="8824200" cy="5850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US" sz="1300"/>
              <a:t>From the following table, which shows the comparison between out method and other state-of-the-art methods on CRCH dataset, it can be seen that our method outperforms the other ones by a significant margin.</a:t>
            </a:r>
            <a:endParaRPr sz="1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txBox="1"/>
          <p:nvPr>
            <p:ph idx="10" type="dt"/>
          </p:nvPr>
        </p:nvSpPr>
        <p:spPr>
          <a:xfrm>
            <a:off x="337710" y="480322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12-03-2022</a:t>
            </a:r>
            <a:endParaRPr/>
          </a:p>
        </p:txBody>
      </p:sp>
      <p:sp>
        <p:nvSpPr>
          <p:cNvPr id="225" name="Google Shape;225;p24"/>
          <p:cNvSpPr txBox="1"/>
          <p:nvPr>
            <p:ph idx="11" type="ftr"/>
          </p:nvPr>
        </p:nvSpPr>
        <p:spPr>
          <a:xfrm>
            <a:off x="1417831" y="480322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226" name="Google Shape;226;p24"/>
          <p:cNvSpPr txBox="1"/>
          <p:nvPr>
            <p:ph idx="12" type="sldNum"/>
          </p:nvPr>
        </p:nvSpPr>
        <p:spPr>
          <a:xfrm>
            <a:off x="8532441" y="479979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27" name="Google Shape;227;p24"/>
          <p:cNvSpPr txBox="1"/>
          <p:nvPr>
            <p:ph idx="1" type="body"/>
          </p:nvPr>
        </p:nvSpPr>
        <p:spPr>
          <a:xfrm>
            <a:off x="683575" y="1296175"/>
            <a:ext cx="7992900" cy="341370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None/>
            </a:pPr>
            <a:r>
              <a:t/>
            </a:r>
            <a:endParaRPr sz="1350">
              <a:highlight>
                <a:schemeClr val="lt1"/>
              </a:highlight>
              <a:latin typeface="Arial"/>
              <a:ea typeface="Arial"/>
              <a:cs typeface="Arial"/>
              <a:sym typeface="Arial"/>
            </a:endParaRPr>
          </a:p>
          <a:p>
            <a:pPr indent="0" lvl="0" marL="457200" rtl="0" algn="l">
              <a:spcBef>
                <a:spcPts val="0"/>
              </a:spcBef>
              <a:spcAft>
                <a:spcPts val="0"/>
              </a:spcAft>
              <a:buNone/>
            </a:pPr>
            <a:r>
              <a:t/>
            </a:r>
            <a:endParaRPr sz="1350">
              <a:highlight>
                <a:schemeClr val="lt1"/>
              </a:highlight>
              <a:latin typeface="Arial"/>
              <a:ea typeface="Arial"/>
              <a:cs typeface="Arial"/>
              <a:sym typeface="Arial"/>
            </a:endParaRPr>
          </a:p>
          <a:p>
            <a:pPr indent="-320675" lvl="0" marL="457200" rtl="0" algn="l">
              <a:spcBef>
                <a:spcPts val="0"/>
              </a:spcBef>
              <a:spcAft>
                <a:spcPts val="0"/>
              </a:spcAft>
              <a:buSzPts val="1450"/>
              <a:buFont typeface="Arial"/>
              <a:buChar char="●"/>
            </a:pPr>
            <a:r>
              <a:rPr lang="en-US" sz="1450">
                <a:highlight>
                  <a:schemeClr val="lt1"/>
                </a:highlight>
                <a:latin typeface="Arial"/>
                <a:ea typeface="Arial"/>
                <a:cs typeface="Arial"/>
                <a:sym typeface="Arial"/>
              </a:rPr>
              <a:t>We have performed an ablation study to quantitatively determine the contribution of the two components of our framework, i.e. (1) </a:t>
            </a:r>
            <a:r>
              <a:rPr lang="en-US" sz="1450">
                <a:highlight>
                  <a:schemeClr val="lt1"/>
                </a:highlight>
                <a:latin typeface="Arial"/>
                <a:ea typeface="Arial"/>
                <a:cs typeface="Arial"/>
                <a:sym typeface="Arial"/>
              </a:rPr>
              <a:t>a supervised metric learning model and (2) a self-supervised image reconstruction model. The results are shown in the table provided below:</a:t>
            </a:r>
            <a:endParaRPr sz="1450">
              <a:highlight>
                <a:schemeClr val="lt1"/>
              </a:highlight>
              <a:latin typeface="Arial"/>
              <a:ea typeface="Arial"/>
              <a:cs typeface="Arial"/>
              <a:sym typeface="Arial"/>
            </a:endParaRPr>
          </a:p>
          <a:p>
            <a:pPr indent="0" lvl="0" marL="914400" rtl="0" algn="l">
              <a:spcBef>
                <a:spcPts val="0"/>
              </a:spcBef>
              <a:spcAft>
                <a:spcPts val="0"/>
              </a:spcAft>
              <a:buNone/>
            </a:pPr>
            <a:r>
              <a:t/>
            </a:r>
            <a:endParaRPr sz="1350">
              <a:highlight>
                <a:schemeClr val="lt1"/>
              </a:highlight>
              <a:latin typeface="Arial"/>
              <a:ea typeface="Arial"/>
              <a:cs typeface="Arial"/>
              <a:sym typeface="Arial"/>
            </a:endParaRPr>
          </a:p>
        </p:txBody>
      </p:sp>
      <p:graphicFrame>
        <p:nvGraphicFramePr>
          <p:cNvPr id="228" name="Google Shape;228;p24"/>
          <p:cNvGraphicFramePr/>
          <p:nvPr/>
        </p:nvGraphicFramePr>
        <p:xfrm>
          <a:off x="865113" y="2838640"/>
          <a:ext cx="3000000" cy="3000000"/>
        </p:xfrm>
        <a:graphic>
          <a:graphicData uri="http://schemas.openxmlformats.org/drawingml/2006/table">
            <a:tbl>
              <a:tblPr>
                <a:noFill/>
                <a:tableStyleId>{FA7C41D4-2DEF-4D2F-A2C8-0284207D78AE}</a:tableStyleId>
              </a:tblPr>
              <a:tblGrid>
                <a:gridCol w="3035200"/>
                <a:gridCol w="1324900"/>
                <a:gridCol w="1276275"/>
                <a:gridCol w="1064825"/>
                <a:gridCol w="1282325"/>
              </a:tblGrid>
              <a:tr h="405225">
                <a:tc>
                  <a:txBody>
                    <a:bodyPr/>
                    <a:lstStyle/>
                    <a:p>
                      <a:pPr indent="0" lvl="0" marL="0" rtl="0" algn="ctr">
                        <a:spcBef>
                          <a:spcPts val="0"/>
                        </a:spcBef>
                        <a:spcAft>
                          <a:spcPts val="0"/>
                        </a:spcAft>
                        <a:buNone/>
                      </a:pPr>
                      <a:r>
                        <a:rPr lang="en-US" sz="1350">
                          <a:latin typeface="Roboto Medium"/>
                          <a:ea typeface="Roboto Medium"/>
                          <a:cs typeface="Roboto Medium"/>
                          <a:sym typeface="Roboto Medium"/>
                        </a:rPr>
                        <a:t>Method</a:t>
                      </a:r>
                      <a:endParaRPr sz="1350">
                        <a:latin typeface="Roboto Medium"/>
                        <a:ea typeface="Roboto Medium"/>
                        <a:cs typeface="Roboto Medium"/>
                        <a:sym typeface="Roboto Medium"/>
                      </a:endParaRPr>
                    </a:p>
                  </a:txBody>
                  <a:tcPr marT="91425" marB="91425" marR="91425" marL="91425"/>
                </a:tc>
                <a:tc>
                  <a:txBody>
                    <a:bodyPr/>
                    <a:lstStyle/>
                    <a:p>
                      <a:pPr indent="0" lvl="0" marL="0" rtl="0" algn="ctr">
                        <a:spcBef>
                          <a:spcPts val="0"/>
                        </a:spcBef>
                        <a:spcAft>
                          <a:spcPts val="0"/>
                        </a:spcAft>
                        <a:buNone/>
                      </a:pPr>
                      <a:r>
                        <a:rPr lang="en-US" sz="1350">
                          <a:latin typeface="Roboto Medium"/>
                          <a:ea typeface="Roboto Medium"/>
                          <a:cs typeface="Roboto Medium"/>
                          <a:sym typeface="Roboto Medium"/>
                        </a:rPr>
                        <a:t>Accuracy(%)</a:t>
                      </a:r>
                      <a:endParaRPr sz="1350">
                        <a:latin typeface="Roboto Medium"/>
                        <a:ea typeface="Roboto Medium"/>
                        <a:cs typeface="Roboto Medium"/>
                        <a:sym typeface="Roboto Medium"/>
                      </a:endParaRPr>
                    </a:p>
                  </a:txBody>
                  <a:tcPr marT="91425" marB="91425" marR="91425" marL="91425"/>
                </a:tc>
                <a:tc>
                  <a:txBody>
                    <a:bodyPr/>
                    <a:lstStyle/>
                    <a:p>
                      <a:pPr indent="0" lvl="0" marL="0" rtl="0" algn="ctr">
                        <a:spcBef>
                          <a:spcPts val="0"/>
                        </a:spcBef>
                        <a:spcAft>
                          <a:spcPts val="0"/>
                        </a:spcAft>
                        <a:buNone/>
                      </a:pPr>
                      <a:r>
                        <a:rPr lang="en-US" sz="1350">
                          <a:latin typeface="Roboto Medium"/>
                          <a:ea typeface="Roboto Medium"/>
                          <a:cs typeface="Roboto Medium"/>
                          <a:sym typeface="Roboto Medium"/>
                        </a:rPr>
                        <a:t>Precision(%)</a:t>
                      </a:r>
                      <a:endParaRPr sz="1350">
                        <a:latin typeface="Roboto Medium"/>
                        <a:ea typeface="Roboto Medium"/>
                        <a:cs typeface="Roboto Medium"/>
                        <a:sym typeface="Roboto Medium"/>
                      </a:endParaRPr>
                    </a:p>
                  </a:txBody>
                  <a:tcPr marT="91425" marB="91425" marR="91425" marL="91425"/>
                </a:tc>
                <a:tc>
                  <a:txBody>
                    <a:bodyPr/>
                    <a:lstStyle/>
                    <a:p>
                      <a:pPr indent="0" lvl="0" marL="0" rtl="0" algn="ctr">
                        <a:spcBef>
                          <a:spcPts val="0"/>
                        </a:spcBef>
                        <a:spcAft>
                          <a:spcPts val="0"/>
                        </a:spcAft>
                        <a:buNone/>
                      </a:pPr>
                      <a:r>
                        <a:rPr lang="en-US" sz="1350">
                          <a:latin typeface="Roboto Medium"/>
                          <a:ea typeface="Roboto Medium"/>
                          <a:cs typeface="Roboto Medium"/>
                          <a:sym typeface="Roboto Medium"/>
                        </a:rPr>
                        <a:t>Recall(%)</a:t>
                      </a:r>
                      <a:endParaRPr sz="1350">
                        <a:latin typeface="Roboto Medium"/>
                        <a:ea typeface="Roboto Medium"/>
                        <a:cs typeface="Roboto Medium"/>
                        <a:sym typeface="Roboto Medium"/>
                      </a:endParaRPr>
                    </a:p>
                  </a:txBody>
                  <a:tcPr marT="91425" marB="91425" marR="91425" marL="91425"/>
                </a:tc>
                <a:tc>
                  <a:txBody>
                    <a:bodyPr/>
                    <a:lstStyle/>
                    <a:p>
                      <a:pPr indent="0" lvl="0" marL="0" rtl="0" algn="ctr">
                        <a:spcBef>
                          <a:spcPts val="0"/>
                        </a:spcBef>
                        <a:spcAft>
                          <a:spcPts val="0"/>
                        </a:spcAft>
                        <a:buNone/>
                      </a:pPr>
                      <a:r>
                        <a:rPr lang="en-US" sz="1350">
                          <a:latin typeface="Roboto Medium"/>
                          <a:ea typeface="Roboto Medium"/>
                          <a:cs typeface="Roboto Medium"/>
                          <a:sym typeface="Roboto Medium"/>
                        </a:rPr>
                        <a:t>F1-Score(%)</a:t>
                      </a:r>
                      <a:endParaRPr sz="1350">
                        <a:latin typeface="Roboto Medium"/>
                        <a:ea typeface="Roboto Medium"/>
                        <a:cs typeface="Roboto Medium"/>
                        <a:sym typeface="Roboto Medium"/>
                      </a:endParaRPr>
                    </a:p>
                  </a:txBody>
                  <a:tcPr marT="91425" marB="91425" marR="91425" marL="91425"/>
                </a:tc>
              </a:tr>
              <a:tr h="400075">
                <a:tc>
                  <a:txBody>
                    <a:bodyPr/>
                    <a:lstStyle/>
                    <a:p>
                      <a:pPr indent="0" lvl="0" marL="0" rtl="0" algn="ctr">
                        <a:spcBef>
                          <a:spcPts val="0"/>
                        </a:spcBef>
                        <a:spcAft>
                          <a:spcPts val="0"/>
                        </a:spcAft>
                        <a:buNone/>
                      </a:pPr>
                      <a:r>
                        <a:rPr lang="en-US" sz="1350"/>
                        <a:t>Triplet</a:t>
                      </a:r>
                      <a:endParaRPr sz="1350"/>
                    </a:p>
                  </a:txBody>
                  <a:tcPr marT="91425" marB="91425" marR="91425" marL="91425"/>
                </a:tc>
                <a:tc>
                  <a:txBody>
                    <a:bodyPr/>
                    <a:lstStyle/>
                    <a:p>
                      <a:pPr indent="0" lvl="0" marL="0" rtl="0" algn="ctr">
                        <a:spcBef>
                          <a:spcPts val="0"/>
                        </a:spcBef>
                        <a:spcAft>
                          <a:spcPts val="0"/>
                        </a:spcAft>
                        <a:buNone/>
                      </a:pPr>
                      <a:r>
                        <a:rPr lang="en-US" sz="1350"/>
                        <a:t>94.58</a:t>
                      </a:r>
                      <a:endParaRPr sz="1350"/>
                    </a:p>
                  </a:txBody>
                  <a:tcPr marT="91425" marB="91425" marR="91425" marL="91425"/>
                </a:tc>
                <a:tc>
                  <a:txBody>
                    <a:bodyPr/>
                    <a:lstStyle/>
                    <a:p>
                      <a:pPr indent="0" lvl="0" marL="0" rtl="0" algn="ctr">
                        <a:spcBef>
                          <a:spcPts val="0"/>
                        </a:spcBef>
                        <a:spcAft>
                          <a:spcPts val="0"/>
                        </a:spcAft>
                        <a:buNone/>
                      </a:pPr>
                      <a:r>
                        <a:rPr lang="en-US" sz="1350"/>
                        <a:t>94.65</a:t>
                      </a:r>
                      <a:endParaRPr sz="1350"/>
                    </a:p>
                  </a:txBody>
                  <a:tcPr marT="91425" marB="91425" marR="91425" marL="91425"/>
                </a:tc>
                <a:tc>
                  <a:txBody>
                    <a:bodyPr/>
                    <a:lstStyle/>
                    <a:p>
                      <a:pPr indent="0" lvl="0" marL="0" rtl="0" algn="ctr">
                        <a:spcBef>
                          <a:spcPts val="0"/>
                        </a:spcBef>
                        <a:spcAft>
                          <a:spcPts val="0"/>
                        </a:spcAft>
                        <a:buNone/>
                      </a:pPr>
                      <a:r>
                        <a:rPr lang="en-US" sz="1350"/>
                        <a:t>94.58</a:t>
                      </a:r>
                      <a:endParaRPr sz="1350"/>
                    </a:p>
                  </a:txBody>
                  <a:tcPr marT="91425" marB="91425" marR="91425" marL="91425"/>
                </a:tc>
                <a:tc>
                  <a:txBody>
                    <a:bodyPr/>
                    <a:lstStyle/>
                    <a:p>
                      <a:pPr indent="0" lvl="0" marL="0" rtl="0" algn="ctr">
                        <a:spcBef>
                          <a:spcPts val="0"/>
                        </a:spcBef>
                        <a:spcAft>
                          <a:spcPts val="0"/>
                        </a:spcAft>
                        <a:buNone/>
                      </a:pPr>
                      <a:r>
                        <a:rPr lang="en-US" sz="1350"/>
                        <a:t>94.61</a:t>
                      </a:r>
                      <a:endParaRPr sz="1350"/>
                    </a:p>
                  </a:txBody>
                  <a:tcPr marT="91425" marB="91425" marR="91425" marL="91425"/>
                </a:tc>
              </a:tr>
              <a:tr h="400075">
                <a:tc>
                  <a:txBody>
                    <a:bodyPr/>
                    <a:lstStyle/>
                    <a:p>
                      <a:pPr indent="0" lvl="0" marL="0" rtl="0" algn="ctr">
                        <a:spcBef>
                          <a:spcPts val="0"/>
                        </a:spcBef>
                        <a:spcAft>
                          <a:spcPts val="0"/>
                        </a:spcAft>
                        <a:buNone/>
                      </a:pPr>
                      <a:r>
                        <a:rPr lang="en-US" sz="1350"/>
                        <a:t>Reconstruction</a:t>
                      </a:r>
                      <a:endParaRPr sz="1350"/>
                    </a:p>
                  </a:txBody>
                  <a:tcPr marT="91425" marB="91425" marR="91425" marL="91425"/>
                </a:tc>
                <a:tc>
                  <a:txBody>
                    <a:bodyPr/>
                    <a:lstStyle/>
                    <a:p>
                      <a:pPr indent="0" lvl="0" marL="0" rtl="0" algn="ctr">
                        <a:spcBef>
                          <a:spcPts val="0"/>
                        </a:spcBef>
                        <a:spcAft>
                          <a:spcPts val="0"/>
                        </a:spcAft>
                        <a:buNone/>
                      </a:pPr>
                      <a:r>
                        <a:rPr lang="en-US" sz="1350"/>
                        <a:t>93.39</a:t>
                      </a:r>
                      <a:endParaRPr sz="1350"/>
                    </a:p>
                  </a:txBody>
                  <a:tcPr marT="91425" marB="91425" marR="91425" marL="91425"/>
                </a:tc>
                <a:tc>
                  <a:txBody>
                    <a:bodyPr/>
                    <a:lstStyle/>
                    <a:p>
                      <a:pPr indent="0" lvl="0" marL="0" rtl="0" algn="ctr">
                        <a:spcBef>
                          <a:spcPts val="0"/>
                        </a:spcBef>
                        <a:spcAft>
                          <a:spcPts val="0"/>
                        </a:spcAft>
                        <a:buNone/>
                      </a:pPr>
                      <a:r>
                        <a:rPr lang="en-US" sz="1350"/>
                        <a:t>93.50</a:t>
                      </a:r>
                      <a:endParaRPr sz="1350"/>
                    </a:p>
                  </a:txBody>
                  <a:tcPr marT="91425" marB="91425" marR="91425" marL="91425"/>
                </a:tc>
                <a:tc>
                  <a:txBody>
                    <a:bodyPr/>
                    <a:lstStyle/>
                    <a:p>
                      <a:pPr indent="0" lvl="0" marL="0" rtl="0" algn="ctr">
                        <a:spcBef>
                          <a:spcPts val="0"/>
                        </a:spcBef>
                        <a:spcAft>
                          <a:spcPts val="0"/>
                        </a:spcAft>
                        <a:buNone/>
                      </a:pPr>
                      <a:r>
                        <a:rPr lang="en-US" sz="1350"/>
                        <a:t>93.39</a:t>
                      </a:r>
                      <a:endParaRPr sz="1350"/>
                    </a:p>
                  </a:txBody>
                  <a:tcPr marT="91425" marB="91425" marR="91425" marL="91425"/>
                </a:tc>
                <a:tc>
                  <a:txBody>
                    <a:bodyPr/>
                    <a:lstStyle/>
                    <a:p>
                      <a:pPr indent="0" lvl="0" marL="0" rtl="0" algn="ctr">
                        <a:spcBef>
                          <a:spcPts val="0"/>
                        </a:spcBef>
                        <a:spcAft>
                          <a:spcPts val="0"/>
                        </a:spcAft>
                        <a:buNone/>
                      </a:pPr>
                      <a:r>
                        <a:rPr lang="en-US" sz="1350"/>
                        <a:t>93.41</a:t>
                      </a:r>
                      <a:endParaRPr sz="1350"/>
                    </a:p>
                  </a:txBody>
                  <a:tcPr marT="91425" marB="91425" marR="91425" marL="91425"/>
                </a:tc>
              </a:tr>
              <a:tr h="456000">
                <a:tc>
                  <a:txBody>
                    <a:bodyPr/>
                    <a:lstStyle/>
                    <a:p>
                      <a:pPr indent="0" lvl="0" marL="0" rtl="0" algn="ctr">
                        <a:spcBef>
                          <a:spcPts val="0"/>
                        </a:spcBef>
                        <a:spcAft>
                          <a:spcPts val="0"/>
                        </a:spcAft>
                        <a:buNone/>
                      </a:pPr>
                      <a:r>
                        <a:rPr b="1" lang="en-US" sz="1350"/>
                        <a:t>Triplet+Reconstruction (Proposed)</a:t>
                      </a:r>
                      <a:endParaRPr b="1" sz="1350"/>
                    </a:p>
                  </a:txBody>
                  <a:tcPr marT="91425" marB="91425" marR="91425" marL="91425"/>
                </a:tc>
                <a:tc>
                  <a:txBody>
                    <a:bodyPr/>
                    <a:lstStyle/>
                    <a:p>
                      <a:pPr indent="0" lvl="0" marL="0" rtl="0" algn="ctr">
                        <a:spcBef>
                          <a:spcPts val="0"/>
                        </a:spcBef>
                        <a:spcAft>
                          <a:spcPts val="0"/>
                        </a:spcAft>
                        <a:buNone/>
                      </a:pPr>
                      <a:r>
                        <a:rPr b="1" lang="en-US" sz="1350"/>
                        <a:t>95.22</a:t>
                      </a:r>
                      <a:endParaRPr b="1" sz="1350"/>
                    </a:p>
                  </a:txBody>
                  <a:tcPr marT="91425" marB="91425" marR="91425" marL="91425"/>
                </a:tc>
                <a:tc>
                  <a:txBody>
                    <a:bodyPr/>
                    <a:lstStyle/>
                    <a:p>
                      <a:pPr indent="0" lvl="0" marL="0" rtl="0" algn="ctr">
                        <a:spcBef>
                          <a:spcPts val="0"/>
                        </a:spcBef>
                        <a:spcAft>
                          <a:spcPts val="0"/>
                        </a:spcAft>
                        <a:buNone/>
                      </a:pPr>
                      <a:r>
                        <a:rPr b="1" lang="en-US" sz="1350"/>
                        <a:t>95.34</a:t>
                      </a:r>
                      <a:endParaRPr b="1" sz="1350"/>
                    </a:p>
                  </a:txBody>
                  <a:tcPr marT="91425" marB="91425" marR="91425" marL="91425"/>
                </a:tc>
                <a:tc>
                  <a:txBody>
                    <a:bodyPr/>
                    <a:lstStyle/>
                    <a:p>
                      <a:pPr indent="0" lvl="0" marL="0" rtl="0" algn="ctr">
                        <a:spcBef>
                          <a:spcPts val="0"/>
                        </a:spcBef>
                        <a:spcAft>
                          <a:spcPts val="0"/>
                        </a:spcAft>
                        <a:buNone/>
                      </a:pPr>
                      <a:r>
                        <a:rPr b="1" lang="en-US" sz="1350"/>
                        <a:t>95.22</a:t>
                      </a:r>
                      <a:endParaRPr b="1" sz="1350"/>
                    </a:p>
                  </a:txBody>
                  <a:tcPr marT="91425" marB="91425" marR="91425" marL="91425"/>
                </a:tc>
                <a:tc>
                  <a:txBody>
                    <a:bodyPr/>
                    <a:lstStyle/>
                    <a:p>
                      <a:pPr indent="0" lvl="0" marL="0" rtl="0" algn="ctr">
                        <a:spcBef>
                          <a:spcPts val="0"/>
                        </a:spcBef>
                        <a:spcAft>
                          <a:spcPts val="0"/>
                        </a:spcAft>
                        <a:buNone/>
                      </a:pPr>
                      <a:r>
                        <a:rPr b="1" lang="en-US" sz="1350"/>
                        <a:t>95.26</a:t>
                      </a:r>
                      <a:endParaRPr b="1" sz="1350"/>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5"/>
          <p:cNvSpPr txBox="1"/>
          <p:nvPr>
            <p:ph idx="10" type="dt"/>
          </p:nvPr>
        </p:nvSpPr>
        <p:spPr>
          <a:xfrm>
            <a:off x="337710" y="480322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12-03-2022</a:t>
            </a:r>
            <a:endParaRPr/>
          </a:p>
        </p:txBody>
      </p:sp>
      <p:sp>
        <p:nvSpPr>
          <p:cNvPr id="234" name="Google Shape;234;p25"/>
          <p:cNvSpPr txBox="1"/>
          <p:nvPr>
            <p:ph idx="11" type="ftr"/>
          </p:nvPr>
        </p:nvSpPr>
        <p:spPr>
          <a:xfrm>
            <a:off x="1417831" y="480322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235" name="Google Shape;235;p25"/>
          <p:cNvSpPr txBox="1"/>
          <p:nvPr>
            <p:ph idx="12" type="sldNum"/>
          </p:nvPr>
        </p:nvSpPr>
        <p:spPr>
          <a:xfrm>
            <a:off x="8532441" y="479979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36" name="Google Shape;236;p25"/>
          <p:cNvSpPr txBox="1"/>
          <p:nvPr>
            <p:ph idx="1" type="body"/>
          </p:nvPr>
        </p:nvSpPr>
        <p:spPr>
          <a:xfrm>
            <a:off x="700893" y="1614449"/>
            <a:ext cx="7992900" cy="3188700"/>
          </a:xfrm>
          <a:prstGeom prst="rect">
            <a:avLst/>
          </a:prstGeom>
          <a:noFill/>
          <a:ln>
            <a:noFill/>
          </a:ln>
        </p:spPr>
        <p:txBody>
          <a:bodyPr anchorCtr="0" anchor="t" bIns="45700" lIns="91425" spcFirstLastPara="1" rIns="91425" wrap="square" tIns="45700">
            <a:noAutofit/>
          </a:bodyPr>
          <a:lstStyle/>
          <a:p>
            <a:pPr indent="-327025" lvl="0" marL="457200" rtl="0" algn="l">
              <a:spcBef>
                <a:spcPts val="0"/>
              </a:spcBef>
              <a:spcAft>
                <a:spcPts val="0"/>
              </a:spcAft>
              <a:buSzPts val="1550"/>
              <a:buFont typeface="Arial"/>
              <a:buChar char="•"/>
            </a:pPr>
            <a:r>
              <a:rPr lang="en-US" sz="1550">
                <a:latin typeface="Arial"/>
                <a:ea typeface="Arial"/>
                <a:cs typeface="Arial"/>
                <a:sym typeface="Arial"/>
              </a:rPr>
              <a:t>In this work, we have aimed to </a:t>
            </a:r>
            <a:r>
              <a:rPr lang="en-US" sz="1550">
                <a:latin typeface="Arial"/>
                <a:ea typeface="Arial"/>
                <a:cs typeface="Arial"/>
                <a:sym typeface="Arial"/>
              </a:rPr>
              <a:t>propose a novel training strategy for robust representation learning of histopathological images.</a:t>
            </a:r>
            <a:endParaRPr sz="1550">
              <a:latin typeface="Arial"/>
              <a:ea typeface="Arial"/>
              <a:cs typeface="Arial"/>
              <a:sym typeface="Arial"/>
            </a:endParaRPr>
          </a:p>
          <a:p>
            <a:pPr indent="-327025" lvl="0" marL="457200" rtl="0" algn="l">
              <a:spcBef>
                <a:spcPts val="0"/>
              </a:spcBef>
              <a:spcAft>
                <a:spcPts val="0"/>
              </a:spcAft>
              <a:buSzPts val="1550"/>
              <a:buFont typeface="Arial"/>
              <a:buChar char="•"/>
            </a:pPr>
            <a:r>
              <a:rPr lang="en-US" sz="1550">
                <a:latin typeface="Arial"/>
                <a:ea typeface="Arial"/>
                <a:cs typeface="Arial"/>
                <a:sym typeface="Arial"/>
              </a:rPr>
              <a:t>The proposed framework leverages supervised metric learning, for the optimization of embedding space, and self-supervised image reconstruction module, for enforcing pixel-level information learning.</a:t>
            </a:r>
            <a:endParaRPr sz="1550">
              <a:latin typeface="Arial"/>
              <a:ea typeface="Arial"/>
              <a:cs typeface="Arial"/>
              <a:sym typeface="Arial"/>
            </a:endParaRPr>
          </a:p>
          <a:p>
            <a:pPr indent="-327025" lvl="0" marL="457200" rtl="0" algn="l">
              <a:spcBef>
                <a:spcPts val="0"/>
              </a:spcBef>
              <a:spcAft>
                <a:spcPts val="0"/>
              </a:spcAft>
              <a:buSzPts val="1550"/>
              <a:buFont typeface="Arial"/>
              <a:buChar char="•"/>
            </a:pPr>
            <a:r>
              <a:rPr lang="en-US" sz="1550">
                <a:latin typeface="Arial"/>
                <a:ea typeface="Arial"/>
                <a:cs typeface="Arial"/>
                <a:sym typeface="Arial"/>
              </a:rPr>
              <a:t>Thorough analysis of our framework, both qualitative and comparison with existing state-of-the-art works in literature along with suitable ablation study, prove its efficiency for image classification on CRCH dataset.</a:t>
            </a:r>
            <a:endParaRPr sz="1550">
              <a:latin typeface="Arial"/>
              <a:ea typeface="Arial"/>
              <a:cs typeface="Arial"/>
              <a:sym typeface="Arial"/>
            </a:endParaRPr>
          </a:p>
          <a:p>
            <a:pPr indent="-327025" lvl="0" marL="457200" rtl="0" algn="l">
              <a:spcBef>
                <a:spcPts val="0"/>
              </a:spcBef>
              <a:spcAft>
                <a:spcPts val="0"/>
              </a:spcAft>
              <a:buSzPts val="1550"/>
              <a:buFont typeface="Arial"/>
              <a:buChar char="•"/>
            </a:pPr>
            <a:r>
              <a:rPr lang="en-US" sz="1550">
                <a:latin typeface="Arial"/>
                <a:ea typeface="Arial"/>
                <a:cs typeface="Arial"/>
                <a:sym typeface="Arial"/>
              </a:rPr>
              <a:t>Our future work shall be focused on implementation of alternative metric learning losses along with VAE/GAN based models for reconstruction.</a:t>
            </a:r>
            <a:endParaRPr sz="155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6"/>
          <p:cNvSpPr txBox="1"/>
          <p:nvPr>
            <p:ph idx="10" type="dt"/>
          </p:nvPr>
        </p:nvSpPr>
        <p:spPr>
          <a:xfrm>
            <a:off x="337710" y="4803222"/>
            <a:ext cx="10800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a:t>
            </a:r>
            <a:r>
              <a:rPr lang="en-US"/>
              <a:t>-03-2022</a:t>
            </a:r>
            <a:endParaRPr/>
          </a:p>
        </p:txBody>
      </p:sp>
      <p:sp>
        <p:nvSpPr>
          <p:cNvPr id="242" name="Google Shape;242;p26"/>
          <p:cNvSpPr txBox="1"/>
          <p:nvPr>
            <p:ph idx="11" type="ftr"/>
          </p:nvPr>
        </p:nvSpPr>
        <p:spPr>
          <a:xfrm>
            <a:off x="1417831" y="4803222"/>
            <a:ext cx="71145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243" name="Google Shape;243;p26"/>
          <p:cNvSpPr txBox="1"/>
          <p:nvPr>
            <p:ph idx="12" type="sldNum"/>
          </p:nvPr>
        </p:nvSpPr>
        <p:spPr>
          <a:xfrm>
            <a:off x="8532441" y="4799793"/>
            <a:ext cx="586200" cy="3318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44" name="Google Shape;244;p26"/>
          <p:cNvSpPr txBox="1"/>
          <p:nvPr>
            <p:ph idx="1" type="body"/>
          </p:nvPr>
        </p:nvSpPr>
        <p:spPr>
          <a:xfrm>
            <a:off x="674925" y="1541925"/>
            <a:ext cx="8272200" cy="3351000"/>
          </a:xfrm>
          <a:prstGeom prst="rect">
            <a:avLst/>
          </a:prstGeom>
          <a:noFill/>
          <a:ln>
            <a:noFill/>
          </a:ln>
        </p:spPr>
        <p:txBody>
          <a:bodyPr anchorCtr="0" anchor="t" bIns="45700" lIns="91425" spcFirstLastPara="1" rIns="91425" wrap="square" tIns="45700">
            <a:noAutofit/>
          </a:bodyPr>
          <a:lstStyle/>
          <a:p>
            <a:pPr indent="-311150" lvl="0" marL="457200" rtl="0" algn="l">
              <a:spcBef>
                <a:spcPts val="0"/>
              </a:spcBef>
              <a:spcAft>
                <a:spcPts val="0"/>
              </a:spcAft>
              <a:buSzPts val="1300"/>
              <a:buFont typeface="Arial"/>
              <a:buAutoNum type="arabicPeriod"/>
            </a:pPr>
            <a:r>
              <a:rPr lang="en-US" sz="1300">
                <a:highlight>
                  <a:schemeClr val="lt1"/>
                </a:highlight>
                <a:latin typeface="Arial"/>
                <a:ea typeface="Arial"/>
                <a:cs typeface="Arial"/>
                <a:sym typeface="Arial"/>
              </a:rPr>
              <a:t>Kather, J.N., Weis, C.A., Bianconi, F., et al.: Multi-class texture analysis in colorectal cancer histology</a:t>
            </a:r>
            <a:r>
              <a:rPr lang="en-US" sz="1300">
                <a:solidFill>
                  <a:srgbClr val="444444"/>
                </a:solidFill>
                <a:highlight>
                  <a:schemeClr val="lt1"/>
                </a:highlight>
                <a:latin typeface="Arial"/>
                <a:ea typeface="Arial"/>
                <a:cs typeface="Arial"/>
                <a:sym typeface="Arial"/>
              </a:rPr>
              <a:t>.</a:t>
            </a:r>
            <a:endParaRPr sz="1300">
              <a:solidFill>
                <a:srgbClr val="444444"/>
              </a:solidFill>
              <a:highlight>
                <a:schemeClr val="lt1"/>
              </a:highlight>
              <a:latin typeface="Arial"/>
              <a:ea typeface="Arial"/>
              <a:cs typeface="Arial"/>
              <a:sym typeface="Arial"/>
            </a:endParaRPr>
          </a:p>
          <a:p>
            <a:pPr indent="-311150" lvl="0" marL="457200" rtl="0" algn="l">
              <a:spcBef>
                <a:spcPts val="0"/>
              </a:spcBef>
              <a:spcAft>
                <a:spcPts val="0"/>
              </a:spcAft>
              <a:buSzPts val="1300"/>
              <a:buFont typeface="Arial"/>
              <a:buAutoNum type="arabicPeriod"/>
            </a:pPr>
            <a:r>
              <a:rPr lang="en-US" sz="1300">
                <a:highlight>
                  <a:schemeClr val="lt1"/>
                </a:highlight>
                <a:latin typeface="Arial"/>
                <a:ea typeface="Arial"/>
                <a:cs typeface="Arial"/>
                <a:sym typeface="Arial"/>
              </a:rPr>
              <a:t>Wang, C., Shi, J., Zhang, Q., Ying, S.: Histopathological image classification with bilinear convolutional neural networks.</a:t>
            </a:r>
            <a:endParaRPr sz="1300">
              <a:highlight>
                <a:schemeClr val="lt1"/>
              </a:highlight>
              <a:latin typeface="Arial"/>
              <a:ea typeface="Arial"/>
              <a:cs typeface="Arial"/>
              <a:sym typeface="Arial"/>
            </a:endParaRPr>
          </a:p>
          <a:p>
            <a:pPr indent="-311150" lvl="0" marL="457200" rtl="0" algn="l">
              <a:spcBef>
                <a:spcPts val="0"/>
              </a:spcBef>
              <a:spcAft>
                <a:spcPts val="0"/>
              </a:spcAft>
              <a:buSzPts val="1300"/>
              <a:buFont typeface="Arial"/>
              <a:buAutoNum type="arabicPeriod"/>
            </a:pPr>
            <a:r>
              <a:rPr lang="en-US" sz="1300">
                <a:highlight>
                  <a:schemeClr val="lt1"/>
                </a:highlight>
                <a:latin typeface="Arial"/>
                <a:ea typeface="Arial"/>
                <a:cs typeface="Arial"/>
                <a:sym typeface="Arial"/>
              </a:rPr>
              <a:t>Ciompi, F., Geessink, O., Bejnordi, B.E., de Souza, G.S.e.a.: The importance of stain normalization in colorectal tissue classification with convolutional networks.</a:t>
            </a:r>
            <a:endParaRPr sz="1300">
              <a:highlight>
                <a:schemeClr val="lt1"/>
              </a:highlight>
              <a:latin typeface="Arial"/>
              <a:ea typeface="Arial"/>
              <a:cs typeface="Arial"/>
              <a:sym typeface="Arial"/>
            </a:endParaRPr>
          </a:p>
          <a:p>
            <a:pPr indent="-311150" lvl="0" marL="457200" rtl="0" algn="l">
              <a:spcBef>
                <a:spcPts val="0"/>
              </a:spcBef>
              <a:spcAft>
                <a:spcPts val="0"/>
              </a:spcAft>
              <a:buSzPts val="1300"/>
              <a:buFont typeface="Arial"/>
              <a:buAutoNum type="arabicPeriod"/>
            </a:pPr>
            <a:r>
              <a:rPr lang="en-US" sz="1300">
                <a:highlight>
                  <a:schemeClr val="lt1"/>
                </a:highlight>
                <a:latin typeface="Arial"/>
                <a:ea typeface="Arial"/>
                <a:cs typeface="Arial"/>
                <a:sym typeface="Arial"/>
              </a:rPr>
              <a:t>Sabol, P., Sinˇc ́ak, P., Hartono, P., Koˇcan, P., et al.: Explainable classifier for improving the accountability in decision-making for colorectal cancer diagnosis from histopathological images.</a:t>
            </a:r>
            <a:endParaRPr sz="1300">
              <a:highlight>
                <a:schemeClr val="lt1"/>
              </a:highlight>
              <a:latin typeface="Arial"/>
              <a:ea typeface="Arial"/>
              <a:cs typeface="Arial"/>
              <a:sym typeface="Arial"/>
            </a:endParaRPr>
          </a:p>
          <a:p>
            <a:pPr indent="-311150" lvl="0" marL="457200" rtl="0" algn="l">
              <a:spcBef>
                <a:spcPts val="0"/>
              </a:spcBef>
              <a:spcAft>
                <a:spcPts val="0"/>
              </a:spcAft>
              <a:buSzPts val="1300"/>
              <a:buAutoNum type="arabicPeriod"/>
            </a:pPr>
            <a:r>
              <a:rPr lang="en-US" sz="1300">
                <a:highlight>
                  <a:schemeClr val="lt1"/>
                </a:highlight>
                <a:latin typeface="Arial"/>
                <a:ea typeface="Arial"/>
                <a:cs typeface="Arial"/>
                <a:sym typeface="Arial"/>
              </a:rPr>
              <a:t>Ohata, E.F., Chagas, J.V.S.d., Bezerra, G.M., Hassan, M.M., de Albuquerque, V.H.C., Filho, P.P.R.: A novel transfer learning approach for the classification of histological images of colorectal cancer.</a:t>
            </a:r>
            <a:endParaRPr sz="1300">
              <a:highlight>
                <a:schemeClr val="lt1"/>
              </a:highlight>
              <a:latin typeface="Arial"/>
              <a:ea typeface="Arial"/>
              <a:cs typeface="Arial"/>
              <a:sym typeface="Arial"/>
            </a:endParaRPr>
          </a:p>
          <a:p>
            <a:pPr indent="-311150" lvl="0" marL="457200" rtl="0" algn="l">
              <a:spcBef>
                <a:spcPts val="0"/>
              </a:spcBef>
              <a:spcAft>
                <a:spcPts val="0"/>
              </a:spcAft>
              <a:buSzPts val="1300"/>
              <a:buAutoNum type="arabicPeriod"/>
            </a:pPr>
            <a:r>
              <a:rPr lang="en-US" sz="1300">
                <a:highlight>
                  <a:schemeClr val="lt1"/>
                </a:highlight>
                <a:latin typeface="Arial"/>
                <a:ea typeface="Arial"/>
                <a:cs typeface="Arial"/>
                <a:sym typeface="Arial"/>
              </a:rPr>
              <a:t>Ghosh, S., Bandyopadhyay, A., Sahay, S., Ghosh, R., Kundu, I., Santosh, K.: Colorectal histology tumor detection using ensemble deep neural network.</a:t>
            </a:r>
            <a:endParaRPr sz="1300">
              <a:highlight>
                <a:schemeClr val="lt1"/>
              </a:highlight>
              <a:latin typeface="Arial"/>
              <a:ea typeface="Arial"/>
              <a:cs typeface="Arial"/>
              <a:sym typeface="Arial"/>
            </a:endParaRPr>
          </a:p>
          <a:p>
            <a:pPr indent="-311150" lvl="0" marL="457200" rtl="0" algn="l">
              <a:spcBef>
                <a:spcPts val="0"/>
              </a:spcBef>
              <a:spcAft>
                <a:spcPts val="0"/>
              </a:spcAft>
              <a:buSzPts val="1300"/>
              <a:buAutoNum type="arabicPeriod"/>
            </a:pPr>
            <a:r>
              <a:rPr lang="en-US" sz="1300">
                <a:highlight>
                  <a:schemeClr val="lt1"/>
                </a:highlight>
                <a:latin typeface="Arial"/>
                <a:ea typeface="Arial"/>
                <a:cs typeface="Arial"/>
                <a:sym typeface="Arial"/>
              </a:rPr>
              <a:t>Bromley, J., Bentz, J.W., Bottou, L., Guyon, I., LeCun, Y., Moore, C., S ̈ackinger, E., Shah, R.: Signature verification using a “siamese” time delay neural network</a:t>
            </a:r>
            <a:endParaRPr sz="1300">
              <a:highlight>
                <a:schemeClr val="lt1"/>
              </a:highlight>
              <a:latin typeface="Arial"/>
              <a:ea typeface="Arial"/>
              <a:cs typeface="Arial"/>
              <a:sym typeface="Arial"/>
            </a:endParaRPr>
          </a:p>
          <a:p>
            <a:pPr indent="0" lvl="0" marL="457200" rtl="0" algn="l">
              <a:spcBef>
                <a:spcPts val="0"/>
              </a:spcBef>
              <a:spcAft>
                <a:spcPts val="0"/>
              </a:spcAft>
              <a:buNone/>
            </a:pPr>
            <a:r>
              <a:t/>
            </a:r>
            <a:endParaRPr sz="1300">
              <a:highlight>
                <a:schemeClr val="lt1"/>
              </a:highlight>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7"/>
          <p:cNvSpPr txBox="1"/>
          <p:nvPr>
            <p:ph idx="10" type="dt"/>
          </p:nvPr>
        </p:nvSpPr>
        <p:spPr>
          <a:xfrm>
            <a:off x="337710" y="4803222"/>
            <a:ext cx="10800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a:t>
            </a:r>
            <a:r>
              <a:rPr lang="en-US"/>
              <a:t>-03-2022</a:t>
            </a:r>
            <a:endParaRPr/>
          </a:p>
        </p:txBody>
      </p:sp>
      <p:sp>
        <p:nvSpPr>
          <p:cNvPr id="250" name="Google Shape;250;p27"/>
          <p:cNvSpPr txBox="1"/>
          <p:nvPr>
            <p:ph idx="11" type="ftr"/>
          </p:nvPr>
        </p:nvSpPr>
        <p:spPr>
          <a:xfrm>
            <a:off x="1417831" y="4803222"/>
            <a:ext cx="7114500" cy="3249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251" name="Google Shape;251;p27"/>
          <p:cNvSpPr txBox="1"/>
          <p:nvPr>
            <p:ph idx="12" type="sldNum"/>
          </p:nvPr>
        </p:nvSpPr>
        <p:spPr>
          <a:xfrm>
            <a:off x="8532441" y="4799793"/>
            <a:ext cx="586200" cy="331800"/>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52" name="Google Shape;252;p27"/>
          <p:cNvSpPr txBox="1"/>
          <p:nvPr>
            <p:ph idx="1" type="body"/>
          </p:nvPr>
        </p:nvSpPr>
        <p:spPr>
          <a:xfrm>
            <a:off x="683568" y="1571699"/>
            <a:ext cx="7992900" cy="3188700"/>
          </a:xfrm>
          <a:prstGeom prst="rect">
            <a:avLst/>
          </a:prstGeom>
          <a:noFill/>
          <a:ln>
            <a:noFill/>
          </a:ln>
        </p:spPr>
        <p:txBody>
          <a:bodyPr anchorCtr="0" anchor="t" bIns="45700" lIns="91425" spcFirstLastPara="1" rIns="91425" wrap="square" tIns="45700">
            <a:noAutofit/>
          </a:bodyPr>
          <a:lstStyle/>
          <a:p>
            <a:pPr indent="-311150" lvl="0" marL="457200" rtl="0" algn="l">
              <a:spcBef>
                <a:spcPts val="0"/>
              </a:spcBef>
              <a:spcAft>
                <a:spcPts val="0"/>
              </a:spcAft>
              <a:buSzPts val="1300"/>
              <a:buAutoNum type="arabicPeriod" startAt="8"/>
            </a:pPr>
            <a:r>
              <a:rPr lang="en-US" sz="1300">
                <a:highlight>
                  <a:schemeClr val="lt1"/>
                </a:highlight>
                <a:latin typeface="Arial"/>
                <a:ea typeface="Arial"/>
                <a:cs typeface="Arial"/>
                <a:sym typeface="Arial"/>
              </a:rPr>
              <a:t>Annarumma,  M.,  Montana,  G.:  Deep  metric  learning  for  multi-labelled  radio-graphs.</a:t>
            </a:r>
            <a:endParaRPr sz="1300">
              <a:highlight>
                <a:schemeClr val="lt1"/>
              </a:highlight>
              <a:latin typeface="Arial"/>
              <a:ea typeface="Arial"/>
              <a:cs typeface="Arial"/>
              <a:sym typeface="Arial"/>
            </a:endParaRPr>
          </a:p>
          <a:p>
            <a:pPr indent="-311150" lvl="0" marL="457200" rtl="0" algn="l">
              <a:spcBef>
                <a:spcPts val="0"/>
              </a:spcBef>
              <a:spcAft>
                <a:spcPts val="0"/>
              </a:spcAft>
              <a:buSzPts val="1300"/>
              <a:buAutoNum type="arabicPeriod" startAt="8"/>
            </a:pPr>
            <a:r>
              <a:rPr lang="en-US" sz="1300">
                <a:highlight>
                  <a:schemeClr val="lt1"/>
                </a:highlight>
                <a:latin typeface="Arial"/>
                <a:ea typeface="Arial"/>
                <a:cs typeface="Arial"/>
                <a:sym typeface="Arial"/>
              </a:rPr>
              <a:t>Liu, J., Deng, Y., Bai, T., Wei, Z., Huang, C.: Targeting ultimate accuracy: Face recognition via deep embedding.</a:t>
            </a:r>
            <a:endParaRPr sz="1300">
              <a:highlight>
                <a:schemeClr val="lt1"/>
              </a:highlight>
              <a:latin typeface="Arial"/>
              <a:ea typeface="Arial"/>
              <a:cs typeface="Arial"/>
              <a:sym typeface="Arial"/>
            </a:endParaRPr>
          </a:p>
          <a:p>
            <a:pPr indent="-311150" lvl="0" marL="457200" rtl="0" algn="l">
              <a:spcBef>
                <a:spcPts val="0"/>
              </a:spcBef>
              <a:spcAft>
                <a:spcPts val="0"/>
              </a:spcAft>
              <a:buSzPts val="1300"/>
              <a:buFont typeface="Arial"/>
              <a:buAutoNum type="arabicPeriod" startAt="8"/>
            </a:pPr>
            <a:r>
              <a:rPr lang="en-US" sz="1300">
                <a:highlight>
                  <a:schemeClr val="lt1"/>
                </a:highlight>
                <a:latin typeface="Arial"/>
                <a:ea typeface="Arial"/>
                <a:cs typeface="Arial"/>
                <a:sym typeface="Arial"/>
              </a:rPr>
              <a:t>Schroff, F., Kalenichenko, D., Philbin, J.: Facenet: A unified embedding for face recognition and clustering.</a:t>
            </a:r>
            <a:endParaRPr sz="1300">
              <a:highlight>
                <a:schemeClr val="lt1"/>
              </a:highlight>
              <a:latin typeface="Arial"/>
              <a:ea typeface="Arial"/>
              <a:cs typeface="Arial"/>
              <a:sym typeface="Arial"/>
            </a:endParaRPr>
          </a:p>
          <a:p>
            <a:pPr indent="-311150" lvl="0" marL="457200" rtl="0" algn="l">
              <a:spcBef>
                <a:spcPts val="0"/>
              </a:spcBef>
              <a:spcAft>
                <a:spcPts val="0"/>
              </a:spcAft>
              <a:buSzPts val="1300"/>
              <a:buAutoNum type="arabicPeriod" startAt="8"/>
            </a:pPr>
            <a:r>
              <a:rPr lang="en-US" sz="1300">
                <a:highlight>
                  <a:schemeClr val="lt1"/>
                </a:highlight>
                <a:latin typeface="Arial"/>
                <a:ea typeface="Arial"/>
                <a:cs typeface="Arial"/>
                <a:sym typeface="Arial"/>
              </a:rPr>
              <a:t>Chen,  T.,  Kornblith,  S.,  Norouzi,  M.,  Hinton,  G.:  A  simple  framework  for  contrastive learning of visual representations.</a:t>
            </a:r>
            <a:endParaRPr sz="1300">
              <a:highlight>
                <a:schemeClr val="lt1"/>
              </a:highlight>
              <a:latin typeface="Arial"/>
              <a:ea typeface="Arial"/>
              <a:cs typeface="Arial"/>
              <a:sym typeface="Arial"/>
            </a:endParaRPr>
          </a:p>
          <a:p>
            <a:pPr indent="-311150" lvl="0" marL="457200" rtl="0" algn="l">
              <a:spcBef>
                <a:spcPts val="0"/>
              </a:spcBef>
              <a:spcAft>
                <a:spcPts val="0"/>
              </a:spcAft>
              <a:buSzPts val="1300"/>
              <a:buAutoNum type="arabicPeriod" startAt="8"/>
            </a:pPr>
            <a:r>
              <a:rPr lang="en-US" sz="1300">
                <a:highlight>
                  <a:schemeClr val="lt1"/>
                </a:highlight>
                <a:latin typeface="Arial"/>
                <a:ea typeface="Arial"/>
                <a:cs typeface="Arial"/>
                <a:sym typeface="Arial"/>
              </a:rPr>
              <a:t>Atito,  S.,  Awais,  M.,  Kittler,  J.:  Sit:  Self-supervised  vision  transformer.</a:t>
            </a:r>
            <a:endParaRPr sz="1300">
              <a:highlight>
                <a:schemeClr val="lt1"/>
              </a:highlight>
              <a:latin typeface="Arial"/>
              <a:ea typeface="Arial"/>
              <a:cs typeface="Arial"/>
              <a:sym typeface="Arial"/>
            </a:endParaRPr>
          </a:p>
          <a:p>
            <a:pPr indent="-311150" lvl="0" marL="457200" rtl="0" algn="l">
              <a:spcBef>
                <a:spcPts val="0"/>
              </a:spcBef>
              <a:spcAft>
                <a:spcPts val="0"/>
              </a:spcAft>
              <a:buSzPts val="1300"/>
              <a:buAutoNum type="arabicPeriod" startAt="8"/>
            </a:pPr>
            <a:r>
              <a:rPr lang="en-US" sz="1300">
                <a:highlight>
                  <a:schemeClr val="lt1"/>
                </a:highlight>
                <a:latin typeface="Arial"/>
                <a:ea typeface="Arial"/>
                <a:cs typeface="Arial"/>
                <a:sym typeface="Arial"/>
              </a:rPr>
              <a:t>Deepak, P., Philipp, K., Jeff, D., Trevor, D., Efros, A.A.: Context encoders: Feature learning by inpainting.</a:t>
            </a:r>
            <a:endParaRPr sz="1300">
              <a:highlight>
                <a:schemeClr val="lt1"/>
              </a:highlight>
              <a:latin typeface="Arial"/>
              <a:ea typeface="Arial"/>
              <a:cs typeface="Arial"/>
              <a:sym typeface="Arial"/>
            </a:endParaRPr>
          </a:p>
          <a:p>
            <a:pPr indent="-311150" lvl="0" marL="457200" rtl="0" algn="l">
              <a:spcBef>
                <a:spcPts val="0"/>
              </a:spcBef>
              <a:spcAft>
                <a:spcPts val="0"/>
              </a:spcAft>
              <a:buSzPts val="1300"/>
              <a:buAutoNum type="arabicPeriod" startAt="8"/>
            </a:pPr>
            <a:r>
              <a:rPr lang="en-US" sz="1300">
                <a:highlight>
                  <a:schemeClr val="lt1"/>
                </a:highlight>
                <a:latin typeface="Arial"/>
                <a:ea typeface="Arial"/>
                <a:cs typeface="Arial"/>
                <a:sym typeface="Arial"/>
              </a:rPr>
              <a:t>Alwassel,  H.,  Mahajan,  D.,  Korbar,  B.,  Torresani,  L.,  Ghanem,  B.,  Tran,  D.: Self-supervised  learning  by  cross-modal  audio-video  clustering.</a:t>
            </a:r>
            <a:endParaRPr sz="1300">
              <a:highlight>
                <a:schemeClr val="lt1"/>
              </a:highlight>
              <a:latin typeface="Arial"/>
              <a:ea typeface="Arial"/>
              <a:cs typeface="Arial"/>
              <a:sym typeface="Arial"/>
            </a:endParaRPr>
          </a:p>
          <a:p>
            <a:pPr indent="-311150" lvl="0" marL="457200" rtl="0" algn="l">
              <a:spcBef>
                <a:spcPts val="0"/>
              </a:spcBef>
              <a:spcAft>
                <a:spcPts val="0"/>
              </a:spcAft>
              <a:buSzPts val="1300"/>
              <a:buFont typeface="Arial"/>
              <a:buAutoNum type="arabicPeriod" startAt="8"/>
            </a:pPr>
            <a:r>
              <a:rPr lang="en-US" sz="1300">
                <a:highlight>
                  <a:schemeClr val="lt1"/>
                </a:highlight>
                <a:latin typeface="Arial"/>
                <a:ea typeface="Arial"/>
                <a:cs typeface="Arial"/>
                <a:sym typeface="Arial"/>
              </a:rPr>
              <a:t>Ronneberger, O., Fischer, P., Brox, T.: U-net: Convolutional networks for biomedical image segmentation.</a:t>
            </a:r>
            <a:endParaRPr sz="1300">
              <a:highlight>
                <a:schemeClr val="lt1"/>
              </a:highlight>
              <a:latin typeface="Arial"/>
              <a:ea typeface="Arial"/>
              <a:cs typeface="Arial"/>
              <a:sym typeface="Arial"/>
            </a:endParaRPr>
          </a:p>
          <a:p>
            <a:pPr indent="0" lvl="0" marL="457200" rtl="0" algn="l">
              <a:spcBef>
                <a:spcPts val="0"/>
              </a:spcBef>
              <a:spcAft>
                <a:spcPts val="0"/>
              </a:spcAft>
              <a:buNone/>
            </a:pPr>
            <a:r>
              <a:t/>
            </a:r>
            <a:endParaRPr sz="1300">
              <a:highlight>
                <a:schemeClr val="lt1"/>
              </a:highlight>
              <a:latin typeface="Arial"/>
              <a:ea typeface="Arial"/>
              <a:cs typeface="Arial"/>
              <a:sym typeface="Arial"/>
            </a:endParaRPr>
          </a:p>
          <a:p>
            <a:pPr indent="0" lvl="0" marL="457200" rtl="0" algn="l">
              <a:spcBef>
                <a:spcPts val="0"/>
              </a:spcBef>
              <a:spcAft>
                <a:spcPts val="0"/>
              </a:spcAft>
              <a:buNone/>
            </a:pPr>
            <a:r>
              <a:t/>
            </a:r>
            <a:endParaRPr sz="1100">
              <a:highlight>
                <a:schemeClr val="lt1"/>
              </a:highlight>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8"/>
          <p:cNvSpPr txBox="1"/>
          <p:nvPr>
            <p:ph idx="10" type="dt"/>
          </p:nvPr>
        </p:nvSpPr>
        <p:spPr>
          <a:xfrm>
            <a:off x="337712" y="4784672"/>
            <a:ext cx="1080120"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lang="en-US"/>
              <a:t>12-03-2022</a:t>
            </a:r>
            <a:endParaRPr/>
          </a:p>
        </p:txBody>
      </p:sp>
      <p:sp>
        <p:nvSpPr>
          <p:cNvPr id="258" name="Google Shape;258;p28"/>
          <p:cNvSpPr txBox="1"/>
          <p:nvPr>
            <p:ph idx="11" type="ftr"/>
          </p:nvPr>
        </p:nvSpPr>
        <p:spPr>
          <a:xfrm>
            <a:off x="1417832" y="4784672"/>
            <a:ext cx="7114609" cy="325039"/>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US" sz="1400" cap="none">
                <a:solidFill>
                  <a:schemeClr val="dk2"/>
                </a:solidFill>
                <a:latin typeface="Times New Roman"/>
                <a:ea typeface="Times New Roman"/>
                <a:cs typeface="Times New Roman"/>
                <a:sym typeface="Times New Roman"/>
              </a:rPr>
              <a:t>4</a:t>
            </a:r>
            <a:r>
              <a:rPr b="1" baseline="30000" lang="en-US" sz="1400" cap="none">
                <a:solidFill>
                  <a:schemeClr val="dk2"/>
                </a:solidFill>
                <a:latin typeface="Times New Roman"/>
                <a:ea typeface="Times New Roman"/>
                <a:cs typeface="Times New Roman"/>
                <a:sym typeface="Times New Roman"/>
              </a:rPr>
              <a:t>th</a:t>
            </a:r>
            <a:r>
              <a:rPr b="1" lang="en-US" sz="1400" cap="none">
                <a:solidFill>
                  <a:schemeClr val="dk2"/>
                </a:solidFill>
                <a:latin typeface="Times New Roman"/>
                <a:ea typeface="Times New Roman"/>
                <a:cs typeface="Times New Roman"/>
                <a:sym typeface="Times New Roman"/>
              </a:rPr>
              <a:t> International Conference on Machine Intelligence and Signal Processing (MISP-2022)</a:t>
            </a:r>
            <a:endParaRPr/>
          </a:p>
        </p:txBody>
      </p:sp>
      <p:sp>
        <p:nvSpPr>
          <p:cNvPr id="259" name="Google Shape;259;p28"/>
          <p:cNvSpPr txBox="1"/>
          <p:nvPr>
            <p:ph idx="12" type="sldNum"/>
          </p:nvPr>
        </p:nvSpPr>
        <p:spPr>
          <a:xfrm>
            <a:off x="8532441" y="4781243"/>
            <a:ext cx="586052" cy="331896"/>
          </a:xfrm>
          <a:prstGeom prst="rect">
            <a:avLst/>
          </a:prstGeom>
          <a:solidFill>
            <a:srgbClr val="DAEEF3"/>
          </a:solidFill>
          <a:ln cap="flat" cmpd="sng" w="254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